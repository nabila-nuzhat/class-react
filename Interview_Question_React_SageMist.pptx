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9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</p:sldIdLst>
  <p:sldSz cx="9144000" cy="5143500" type="screen16x9"/>
  <p:notesSz cx="6858000" cy="9144000"/>
  <p:embeddedFontLst>
    <p:embeddedFont>
      <p:font typeface="Space Grotesk" panose="020B0604020202020204" charset="0"/>
      <p:regular r:id="rId93"/>
      <p:bold r:id="rId9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5DBE877-EA56-4E50-8FC9-7BBC18411BFC}">
  <a:tblStyle styleId="{45DBE877-EA56-4E50-8FC9-7BBC18411BF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7" d="100"/>
          <a:sy n="127" d="100"/>
        </p:scale>
        <p:origin x="178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presProps" Target="pres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font" Target="fonts/font1.fntdata"/><Relationship Id="rId9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ab36bd025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ab36bd025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ab36bd025a_0_4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ab36bd025a_0_4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ab36bd025a_0_4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ab36bd025a_0_4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ab36bd025a_0_4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ab36bd025a_0_4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b36bd025a_0_5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ab36bd025a_0_5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b36bd025a_0_5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ab36bd025a_0_5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ab36bd025a_0_5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ab36bd025a_0_5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ab36bd025a_0_5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ab36bd025a_0_5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ab36bd025a_0_5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ab36bd025a_0_5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ab36bd025a_0_5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ab36bd025a_0_5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ab36bd025a_0_5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ab36bd025a_0_5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ab36bd025a_0_5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ab36bd025a_0_5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ab36bd025a_0_5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ab36bd025a_0_5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ab36bd025a_0_5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ab36bd025a_0_5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ab36bd025a_0_5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ab36bd025a_0_5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ab36bd025a_0_5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ab36bd025a_0_5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ab36bd025a_0_5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ab36bd025a_0_5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ab36bd025a_0_5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ab36bd025a_0_5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ab36bd025a_0_5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ab36bd025a_0_5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ab36bd025a_0_5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ab36bd025a_0_5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ab36bd025a_0_5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ab36bd025a_0_5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ab36bd025a_0_6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ab36bd025a_0_6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b36bd025a_0_6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ab36bd025a_0_6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ab36bd025a_0_6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ab36bd025a_0_6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ab36bd025a_0_6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ab36bd025a_0_6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b42092e68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b42092e68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b42092e68b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b42092e68b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b42092e68b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b42092e68b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b42092e68b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b42092e68b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b42092e68b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b42092e68b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b42092e68b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b42092e68b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b42092e68b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b42092e68b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b42092e68b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b42092e68b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b42092e68b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b42092e68b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b42092e68b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b42092e68b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b42092e68b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b42092e68b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b42092e68b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b42092e68b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b42092e68b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b42092e68b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b25033859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b25033859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b250338590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b250338590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b250338590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b250338590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b250338590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b250338590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b250338590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b250338590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b250338590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3b250338590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b250338590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b250338590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b250338590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3b250338590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b25033859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3b25033859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b250338590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3b250338590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b250338590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3b250338590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b250338590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3b250338590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b250338590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3b250338590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b250338590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3b250338590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b250338590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3b250338590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b250338590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3b250338590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b250338590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3b250338590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b250338590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3b250338590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b250338590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3b250338590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b250338590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3b250338590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b250338590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3b250338590_0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b250338590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3b250338590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b250338590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3b250338590_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b250338590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3b250338590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b250338590_0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3b250338590_0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b250338590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3b250338590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b250338590_0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3b250338590_0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b250338590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3b250338590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b250338590_0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3b250338590_0_1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b250338590_0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3b250338590_0_1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b250338590_0_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3b250338590_0_1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b250338590_0_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g3b250338590_0_1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b250338590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3b250338590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3b250338590_0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2" name="Google Shape;512;g3b250338590_0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b250338590_0_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3b250338590_0_1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b250338590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4" name="Google Shape;524;g3b250338590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b250338590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b250338590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b250338590_0_1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6" name="Google Shape;536;g3b250338590_0_1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3b250338590_0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2" name="Google Shape;542;g3b250338590_0_1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3b250338590_0_1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g3b250338590_0_1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3b250338590_0_2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g3b250338590_0_2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3b250338590_0_2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0" name="Google Shape;560;g3b250338590_0_2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3b250338590_0_2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6" name="Google Shape;566;g3b250338590_0_2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3b250338590_0_2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2" name="Google Shape;572;g3b250338590_0_2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3b250338590_0_2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8" name="Google Shape;578;g3b250338590_0_2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3b250338590_0_2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4" name="Google Shape;584;g3b250338590_0_2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3b250338590_0_2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0" name="Google Shape;590;g3b250338590_0_2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3b250338590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6" name="Google Shape;596;g3b250338590_0_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3b250338590_0_2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3b250338590_0_2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3b250338590_0_2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8" name="Google Shape;608;g3b250338590_0_2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3b250338590_0_2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4" name="Google Shape;614;g3b250338590_0_2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3b250338590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0" name="Google Shape;620;g3b250338590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- Alt 1">
  <p:cSld name="TITLE_1_2">
    <p:bg>
      <p:bgPr>
        <a:solidFill>
          <a:srgbClr val="EEF2EE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716836" y="2603560"/>
            <a:ext cx="7775700" cy="865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highlight>
                  <a:srgbClr val="4A7C59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rgbClr val="4A7C59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rgbClr val="4A7C59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rgbClr val="4A7C59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rgbClr val="4A7C59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rgbClr val="4A7C59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rgbClr val="4A7C59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rgbClr val="4A7C59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rgbClr val="4A7C59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title" idx="2"/>
          </p:nvPr>
        </p:nvSpPr>
        <p:spPr>
          <a:xfrm>
            <a:off x="699978" y="4174219"/>
            <a:ext cx="4909500" cy="330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D4A3E"/>
              </a:buClr>
              <a:buSzPts val="1500"/>
              <a:buFont typeface="Space Grotesk Medium"/>
              <a:buNone/>
              <a:defRPr sz="1500">
                <a:solidFill>
                  <a:srgbClr val="2D4A3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D4A3E"/>
              </a:buClr>
              <a:buSzPts val="1500"/>
              <a:buFont typeface="Space Grotesk Medium"/>
              <a:buNone/>
              <a:defRPr sz="1500">
                <a:solidFill>
                  <a:srgbClr val="2D4A3E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D4A3E"/>
              </a:buClr>
              <a:buSzPts val="1500"/>
              <a:buFont typeface="Space Grotesk Medium"/>
              <a:buNone/>
              <a:defRPr sz="1500">
                <a:solidFill>
                  <a:srgbClr val="2D4A3E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D4A3E"/>
              </a:buClr>
              <a:buSzPts val="1500"/>
              <a:buFont typeface="Space Grotesk Medium"/>
              <a:buNone/>
              <a:defRPr sz="1500">
                <a:solidFill>
                  <a:srgbClr val="2D4A3E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D4A3E"/>
              </a:buClr>
              <a:buSzPts val="1500"/>
              <a:buFont typeface="Space Grotesk Medium"/>
              <a:buNone/>
              <a:defRPr sz="1500">
                <a:solidFill>
                  <a:srgbClr val="2D4A3E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D4A3E"/>
              </a:buClr>
              <a:buSzPts val="1500"/>
              <a:buFont typeface="Space Grotesk Medium"/>
              <a:buNone/>
              <a:defRPr sz="1500">
                <a:solidFill>
                  <a:srgbClr val="2D4A3E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D4A3E"/>
              </a:buClr>
              <a:buSzPts val="1500"/>
              <a:buFont typeface="Space Grotesk Medium"/>
              <a:buNone/>
              <a:defRPr sz="1500">
                <a:solidFill>
                  <a:srgbClr val="2D4A3E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D4A3E"/>
              </a:buClr>
              <a:buSzPts val="1500"/>
              <a:buFont typeface="Space Grotesk Medium"/>
              <a:buNone/>
              <a:defRPr sz="1500">
                <a:solidFill>
                  <a:srgbClr val="2D4A3E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D4A3E"/>
              </a:buClr>
              <a:buSzPts val="1500"/>
              <a:buFont typeface="Space Grotesk Medium"/>
              <a:buNone/>
              <a:defRPr sz="1500">
                <a:solidFill>
                  <a:srgbClr val="2D4A3E"/>
                </a:solidFill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title" idx="3"/>
          </p:nvPr>
        </p:nvSpPr>
        <p:spPr>
          <a:xfrm>
            <a:off x="716836" y="3459250"/>
            <a:ext cx="7673400" cy="678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highlight>
                  <a:srgbClr val="5A8A7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rgbClr val="5A8A7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rgbClr val="5A8A7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rgbClr val="5A8A7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rgbClr val="5A8A7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rgbClr val="5A8A7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rgbClr val="5A8A7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rgbClr val="5A8A7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rgbClr val="5A8A7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title" idx="4"/>
          </p:nvPr>
        </p:nvSpPr>
        <p:spPr>
          <a:xfrm>
            <a:off x="699978" y="734269"/>
            <a:ext cx="4299000" cy="183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D4A3E"/>
              </a:buClr>
              <a:buSzPts val="2800"/>
              <a:buNone/>
              <a:defRPr sz="7700">
                <a:solidFill>
                  <a:srgbClr val="2D4A3E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D4A3E"/>
              </a:buClr>
              <a:buSzPts val="2800"/>
              <a:buNone/>
              <a:defRPr sz="3900">
                <a:solidFill>
                  <a:srgbClr val="2D4A3E"/>
                </a:solidFill>
                <a:highlight>
                  <a:schemeClr val="accent5"/>
                </a:highlight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D4A3E"/>
              </a:buClr>
              <a:buSzPts val="2800"/>
              <a:buNone/>
              <a:defRPr sz="3900">
                <a:solidFill>
                  <a:srgbClr val="2D4A3E"/>
                </a:solidFill>
                <a:highlight>
                  <a:schemeClr val="accent5"/>
                </a:highlight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D4A3E"/>
              </a:buClr>
              <a:buSzPts val="2800"/>
              <a:buNone/>
              <a:defRPr sz="3900">
                <a:solidFill>
                  <a:srgbClr val="2D4A3E"/>
                </a:solidFill>
                <a:highlight>
                  <a:schemeClr val="accent5"/>
                </a:highlight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D4A3E"/>
              </a:buClr>
              <a:buSzPts val="2800"/>
              <a:buNone/>
              <a:defRPr sz="3900">
                <a:solidFill>
                  <a:srgbClr val="2D4A3E"/>
                </a:solidFill>
                <a:highlight>
                  <a:schemeClr val="accent5"/>
                </a:highlight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D4A3E"/>
              </a:buClr>
              <a:buSzPts val="2800"/>
              <a:buNone/>
              <a:defRPr sz="3900">
                <a:solidFill>
                  <a:srgbClr val="2D4A3E"/>
                </a:solidFill>
                <a:highlight>
                  <a:schemeClr val="accent5"/>
                </a:highlight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D4A3E"/>
              </a:buClr>
              <a:buSzPts val="2800"/>
              <a:buNone/>
              <a:defRPr sz="3900">
                <a:solidFill>
                  <a:srgbClr val="2D4A3E"/>
                </a:solidFill>
                <a:highlight>
                  <a:schemeClr val="accent5"/>
                </a:highlight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D4A3E"/>
              </a:buClr>
              <a:buSzPts val="2800"/>
              <a:buNone/>
              <a:defRPr sz="3900">
                <a:solidFill>
                  <a:srgbClr val="2D4A3E"/>
                </a:solidFill>
                <a:highlight>
                  <a:schemeClr val="accent5"/>
                </a:highlight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D4A3E"/>
              </a:buClr>
              <a:buSzPts val="2800"/>
              <a:buNone/>
              <a:defRPr sz="3900">
                <a:solidFill>
                  <a:srgbClr val="2D4A3E"/>
                </a:solidFill>
                <a:highlight>
                  <a:schemeClr val="accent5"/>
                </a:highlight>
              </a:defRPr>
            </a:lvl9pPr>
          </a:lstStyle>
          <a:p>
            <a:endParaRPr/>
          </a:p>
        </p:txBody>
      </p:sp>
      <p:grpSp>
        <p:nvGrpSpPr>
          <p:cNvPr id="55" name="Google Shape;55;p13"/>
          <p:cNvGrpSpPr/>
          <p:nvPr/>
        </p:nvGrpSpPr>
        <p:grpSpPr>
          <a:xfrm>
            <a:off x="6871890" y="501597"/>
            <a:ext cx="139297" cy="110523"/>
            <a:chOff x="2601950" y="1974675"/>
            <a:chExt cx="2474200" cy="1963100"/>
          </a:xfrm>
        </p:grpSpPr>
        <p:sp>
          <p:nvSpPr>
            <p:cNvPr id="56" name="Google Shape;56;p13"/>
            <p:cNvSpPr/>
            <p:nvPr/>
          </p:nvSpPr>
          <p:spPr>
            <a:xfrm>
              <a:off x="2601950" y="1974675"/>
              <a:ext cx="621475" cy="621475"/>
            </a:xfrm>
            <a:custGeom>
              <a:avLst/>
              <a:gdLst/>
              <a:ahLst/>
              <a:cxnLst/>
              <a:rect l="l" t="t" r="r" b="b"/>
              <a:pathLst>
                <a:path w="24859" h="24859" extrusionOk="0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rgbClr val="4A7C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57" name="Google Shape;57;p13"/>
            <p:cNvSpPr/>
            <p:nvPr/>
          </p:nvSpPr>
          <p:spPr>
            <a:xfrm>
              <a:off x="4454675" y="1974675"/>
              <a:ext cx="621475" cy="621475"/>
            </a:xfrm>
            <a:custGeom>
              <a:avLst/>
              <a:gdLst/>
              <a:ahLst/>
              <a:cxnLst/>
              <a:rect l="l" t="t" r="r" b="b"/>
              <a:pathLst>
                <a:path w="24859" h="24859" extrusionOk="0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rgbClr val="4A7C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58" name="Google Shape;58;p13"/>
            <p:cNvSpPr/>
            <p:nvPr/>
          </p:nvSpPr>
          <p:spPr>
            <a:xfrm>
              <a:off x="2601950" y="2903950"/>
              <a:ext cx="621475" cy="621475"/>
            </a:xfrm>
            <a:custGeom>
              <a:avLst/>
              <a:gdLst/>
              <a:ahLst/>
              <a:cxnLst/>
              <a:rect l="l" t="t" r="r" b="b"/>
              <a:pathLst>
                <a:path w="24859" h="24859" extrusionOk="0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rgbClr val="4A7C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59" name="Google Shape;59;p13"/>
            <p:cNvSpPr/>
            <p:nvPr/>
          </p:nvSpPr>
          <p:spPr>
            <a:xfrm>
              <a:off x="2811025" y="3107225"/>
              <a:ext cx="615675" cy="615675"/>
            </a:xfrm>
            <a:custGeom>
              <a:avLst/>
              <a:gdLst/>
              <a:ahLst/>
              <a:cxnLst/>
              <a:rect l="l" t="t" r="r" b="b"/>
              <a:pathLst>
                <a:path w="24627" h="24627" extrusionOk="0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rgbClr val="4A7C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0" name="Google Shape;60;p13"/>
            <p:cNvSpPr/>
            <p:nvPr/>
          </p:nvSpPr>
          <p:spPr>
            <a:xfrm>
              <a:off x="3008500" y="3316325"/>
              <a:ext cx="1759825" cy="621450"/>
            </a:xfrm>
            <a:custGeom>
              <a:avLst/>
              <a:gdLst/>
              <a:ahLst/>
              <a:cxnLst/>
              <a:rect l="l" t="t" r="r" b="b"/>
              <a:pathLst>
                <a:path w="70393" h="24858" extrusionOk="0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rgbClr val="4A7C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1" name="Google Shape;61;p13"/>
            <p:cNvSpPr/>
            <p:nvPr/>
          </p:nvSpPr>
          <p:spPr>
            <a:xfrm>
              <a:off x="4251400" y="3107225"/>
              <a:ext cx="615650" cy="615675"/>
            </a:xfrm>
            <a:custGeom>
              <a:avLst/>
              <a:gdLst/>
              <a:ahLst/>
              <a:cxnLst/>
              <a:rect l="l" t="t" r="r" b="b"/>
              <a:pathLst>
                <a:path w="24626" h="24627" extrusionOk="0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rgbClr val="4A7C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2" name="Google Shape;62;p13"/>
            <p:cNvSpPr/>
            <p:nvPr/>
          </p:nvSpPr>
          <p:spPr>
            <a:xfrm>
              <a:off x="4454675" y="2903950"/>
              <a:ext cx="621475" cy="621475"/>
            </a:xfrm>
            <a:custGeom>
              <a:avLst/>
              <a:gdLst/>
              <a:ahLst/>
              <a:cxnLst/>
              <a:rect l="l" t="t" r="r" b="b"/>
              <a:pathLst>
                <a:path w="24859" h="24859" extrusionOk="0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rgbClr val="4A7C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63" name="Google Shape;63;p13"/>
          <p:cNvGrpSpPr/>
          <p:nvPr/>
        </p:nvGrpSpPr>
        <p:grpSpPr>
          <a:xfrm>
            <a:off x="7517552" y="1728897"/>
            <a:ext cx="139297" cy="110523"/>
            <a:chOff x="2601950" y="1974675"/>
            <a:chExt cx="2474200" cy="1963100"/>
          </a:xfrm>
        </p:grpSpPr>
        <p:sp>
          <p:nvSpPr>
            <p:cNvPr id="64" name="Google Shape;64;p13"/>
            <p:cNvSpPr/>
            <p:nvPr/>
          </p:nvSpPr>
          <p:spPr>
            <a:xfrm>
              <a:off x="2601950" y="1974675"/>
              <a:ext cx="621475" cy="621475"/>
            </a:xfrm>
            <a:custGeom>
              <a:avLst/>
              <a:gdLst/>
              <a:ahLst/>
              <a:cxnLst/>
              <a:rect l="l" t="t" r="r" b="b"/>
              <a:pathLst>
                <a:path w="24859" h="24859" extrusionOk="0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rgbClr val="5A8A7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5" name="Google Shape;65;p13"/>
            <p:cNvSpPr/>
            <p:nvPr/>
          </p:nvSpPr>
          <p:spPr>
            <a:xfrm>
              <a:off x="4454675" y="1974675"/>
              <a:ext cx="621475" cy="621475"/>
            </a:xfrm>
            <a:custGeom>
              <a:avLst/>
              <a:gdLst/>
              <a:ahLst/>
              <a:cxnLst/>
              <a:rect l="l" t="t" r="r" b="b"/>
              <a:pathLst>
                <a:path w="24859" h="24859" extrusionOk="0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rgbClr val="5A8A7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6" name="Google Shape;66;p13"/>
            <p:cNvSpPr/>
            <p:nvPr/>
          </p:nvSpPr>
          <p:spPr>
            <a:xfrm>
              <a:off x="2601950" y="2903950"/>
              <a:ext cx="621475" cy="621475"/>
            </a:xfrm>
            <a:custGeom>
              <a:avLst/>
              <a:gdLst/>
              <a:ahLst/>
              <a:cxnLst/>
              <a:rect l="l" t="t" r="r" b="b"/>
              <a:pathLst>
                <a:path w="24859" h="24859" extrusionOk="0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rgbClr val="5A8A7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7" name="Google Shape;67;p13"/>
            <p:cNvSpPr/>
            <p:nvPr/>
          </p:nvSpPr>
          <p:spPr>
            <a:xfrm>
              <a:off x="2811025" y="3107225"/>
              <a:ext cx="615675" cy="615675"/>
            </a:xfrm>
            <a:custGeom>
              <a:avLst/>
              <a:gdLst/>
              <a:ahLst/>
              <a:cxnLst/>
              <a:rect l="l" t="t" r="r" b="b"/>
              <a:pathLst>
                <a:path w="24627" h="24627" extrusionOk="0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rgbClr val="5A8A7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8" name="Google Shape;68;p13"/>
            <p:cNvSpPr/>
            <p:nvPr/>
          </p:nvSpPr>
          <p:spPr>
            <a:xfrm>
              <a:off x="3008500" y="3316325"/>
              <a:ext cx="1759825" cy="621450"/>
            </a:xfrm>
            <a:custGeom>
              <a:avLst/>
              <a:gdLst/>
              <a:ahLst/>
              <a:cxnLst/>
              <a:rect l="l" t="t" r="r" b="b"/>
              <a:pathLst>
                <a:path w="70393" h="24858" extrusionOk="0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rgbClr val="5A8A7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9" name="Google Shape;69;p13"/>
            <p:cNvSpPr/>
            <p:nvPr/>
          </p:nvSpPr>
          <p:spPr>
            <a:xfrm>
              <a:off x="4251400" y="3107225"/>
              <a:ext cx="615650" cy="615675"/>
            </a:xfrm>
            <a:custGeom>
              <a:avLst/>
              <a:gdLst/>
              <a:ahLst/>
              <a:cxnLst/>
              <a:rect l="l" t="t" r="r" b="b"/>
              <a:pathLst>
                <a:path w="24626" h="24627" extrusionOk="0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rgbClr val="5A8A7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70" name="Google Shape;70;p13"/>
            <p:cNvSpPr/>
            <p:nvPr/>
          </p:nvSpPr>
          <p:spPr>
            <a:xfrm>
              <a:off x="4454675" y="2903950"/>
              <a:ext cx="621475" cy="621475"/>
            </a:xfrm>
            <a:custGeom>
              <a:avLst/>
              <a:gdLst/>
              <a:ahLst/>
              <a:cxnLst/>
              <a:rect l="l" t="t" r="r" b="b"/>
              <a:pathLst>
                <a:path w="24859" h="24859" extrusionOk="0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rgbClr val="5A8A7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71" name="Google Shape;71;p13"/>
          <p:cNvGrpSpPr/>
          <p:nvPr/>
        </p:nvGrpSpPr>
        <p:grpSpPr>
          <a:xfrm>
            <a:off x="4265152" y="4275922"/>
            <a:ext cx="139297" cy="110523"/>
            <a:chOff x="2601950" y="1974675"/>
            <a:chExt cx="2474200" cy="1963100"/>
          </a:xfrm>
        </p:grpSpPr>
        <p:sp>
          <p:nvSpPr>
            <p:cNvPr id="72" name="Google Shape;72;p13"/>
            <p:cNvSpPr/>
            <p:nvPr/>
          </p:nvSpPr>
          <p:spPr>
            <a:xfrm>
              <a:off x="2601950" y="1974675"/>
              <a:ext cx="621475" cy="621475"/>
            </a:xfrm>
            <a:custGeom>
              <a:avLst/>
              <a:gdLst/>
              <a:ahLst/>
              <a:cxnLst/>
              <a:rect l="l" t="t" r="r" b="b"/>
              <a:pathLst>
                <a:path w="24859" h="24859" extrusionOk="0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73" name="Google Shape;73;p13"/>
            <p:cNvSpPr/>
            <p:nvPr/>
          </p:nvSpPr>
          <p:spPr>
            <a:xfrm>
              <a:off x="4454675" y="1974675"/>
              <a:ext cx="621475" cy="621475"/>
            </a:xfrm>
            <a:custGeom>
              <a:avLst/>
              <a:gdLst/>
              <a:ahLst/>
              <a:cxnLst/>
              <a:rect l="l" t="t" r="r" b="b"/>
              <a:pathLst>
                <a:path w="24859" h="24859" extrusionOk="0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74" name="Google Shape;74;p13"/>
            <p:cNvSpPr/>
            <p:nvPr/>
          </p:nvSpPr>
          <p:spPr>
            <a:xfrm>
              <a:off x="2601950" y="2903950"/>
              <a:ext cx="621475" cy="621475"/>
            </a:xfrm>
            <a:custGeom>
              <a:avLst/>
              <a:gdLst/>
              <a:ahLst/>
              <a:cxnLst/>
              <a:rect l="l" t="t" r="r" b="b"/>
              <a:pathLst>
                <a:path w="24859" h="24859" extrusionOk="0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75" name="Google Shape;75;p13"/>
            <p:cNvSpPr/>
            <p:nvPr/>
          </p:nvSpPr>
          <p:spPr>
            <a:xfrm>
              <a:off x="2811025" y="3107225"/>
              <a:ext cx="615675" cy="615675"/>
            </a:xfrm>
            <a:custGeom>
              <a:avLst/>
              <a:gdLst/>
              <a:ahLst/>
              <a:cxnLst/>
              <a:rect l="l" t="t" r="r" b="b"/>
              <a:pathLst>
                <a:path w="24627" h="24627" extrusionOk="0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76" name="Google Shape;76;p13"/>
            <p:cNvSpPr/>
            <p:nvPr/>
          </p:nvSpPr>
          <p:spPr>
            <a:xfrm>
              <a:off x="3008500" y="3316325"/>
              <a:ext cx="1759825" cy="621450"/>
            </a:xfrm>
            <a:custGeom>
              <a:avLst/>
              <a:gdLst/>
              <a:ahLst/>
              <a:cxnLst/>
              <a:rect l="l" t="t" r="r" b="b"/>
              <a:pathLst>
                <a:path w="70393" h="24858" extrusionOk="0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77" name="Google Shape;77;p13"/>
            <p:cNvSpPr/>
            <p:nvPr/>
          </p:nvSpPr>
          <p:spPr>
            <a:xfrm>
              <a:off x="4251400" y="3107225"/>
              <a:ext cx="615650" cy="615675"/>
            </a:xfrm>
            <a:custGeom>
              <a:avLst/>
              <a:gdLst/>
              <a:ahLst/>
              <a:cxnLst/>
              <a:rect l="l" t="t" r="r" b="b"/>
              <a:pathLst>
                <a:path w="24626" h="24627" extrusionOk="0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78" name="Google Shape;78;p13"/>
            <p:cNvSpPr/>
            <p:nvPr/>
          </p:nvSpPr>
          <p:spPr>
            <a:xfrm>
              <a:off x="4454675" y="2903950"/>
              <a:ext cx="621475" cy="621475"/>
            </a:xfrm>
            <a:custGeom>
              <a:avLst/>
              <a:gdLst/>
              <a:ahLst/>
              <a:cxnLst/>
              <a:rect l="l" t="t" r="r" b="b"/>
              <a:pathLst>
                <a:path w="24859" h="24859" extrusionOk="0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9">
          <p15:clr>
            <a:srgbClr val="E46962"/>
          </p15:clr>
        </p15:guide>
        <p15:guide id="2" pos="159">
          <p15:clr>
            <a:srgbClr val="E46962"/>
          </p15:clr>
        </p15:guide>
        <p15:guide id="3" orient="horz" pos="2772">
          <p15:clr>
            <a:srgbClr val="E46962"/>
          </p15:clr>
        </p15:guide>
        <p15:guide id="4" pos="5292">
          <p15:clr>
            <a:srgbClr val="E46962"/>
          </p15:clr>
        </p15:guide>
        <p15:guide id="5" pos="468">
          <p15:clr>
            <a:srgbClr val="E46962"/>
          </p15:clr>
        </p15:guide>
        <p15:guide id="6" pos="5601">
          <p15:clr>
            <a:srgbClr val="E46962"/>
          </p15:clr>
        </p15:guide>
        <p15:guide id="7" orient="horz" pos="468">
          <p15:clr>
            <a:srgbClr val="E46962"/>
          </p15:clr>
        </p15:guide>
        <p15:guide id="8" orient="horz" pos="3081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EEF2EE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1E2D24"/>
        </a:buClr>
        <a:buFont typeface="Arial"/>
        <a:defRPr sz="1400" b="0" i="0" u="none" strike="noStrike" cap="none">
          <a:solidFill>
            <a:srgbClr val="1E2D24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1E2D24"/>
        </a:buClr>
        <a:buFont typeface="Arial"/>
        <a:defRPr sz="1400" b="0" i="0" u="none" strike="noStrike" cap="none">
          <a:solidFill>
            <a:srgbClr val="1E2D24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1E2D24"/>
        </a:buClr>
        <a:buFont typeface="Arial"/>
        <a:defRPr sz="1400" b="0" i="0" u="none" strike="noStrike" cap="none">
          <a:solidFill>
            <a:srgbClr val="1E2D24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1E2D24"/>
        </a:buClr>
        <a:buFont typeface="Arial"/>
        <a:defRPr sz="1400" b="0" i="0" u="none" strike="noStrike" cap="none">
          <a:solidFill>
            <a:srgbClr val="1E2D24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1E2D24"/>
        </a:buClr>
        <a:buFont typeface="Arial"/>
        <a:defRPr sz="1400" b="0" i="0" u="none" strike="noStrike" cap="none">
          <a:solidFill>
            <a:srgbClr val="1E2D24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1E2D24"/>
        </a:buClr>
        <a:buFont typeface="Arial"/>
        <a:defRPr sz="1400" b="0" i="0" u="none" strike="noStrike" cap="none">
          <a:solidFill>
            <a:srgbClr val="1E2D24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1E2D24"/>
        </a:buClr>
        <a:buFont typeface="Arial"/>
        <a:defRPr sz="1400" b="0" i="0" u="none" strike="noStrike" cap="none">
          <a:solidFill>
            <a:srgbClr val="1E2D24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1E2D24"/>
        </a:buClr>
        <a:buFont typeface="Arial"/>
        <a:defRPr sz="1400" b="0" i="0" u="none" strike="noStrike" cap="none">
          <a:solidFill>
            <a:srgbClr val="1E2D24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1E2D24"/>
        </a:buClr>
        <a:buFont typeface="Arial"/>
        <a:defRPr sz="1400" b="0" i="0" u="none" strike="noStrike" cap="none">
          <a:solidFill>
            <a:srgbClr val="1E2D24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1E2D24"/>
        </a:buClr>
        <a:buFont typeface="Arial"/>
        <a:defRPr sz="1400" b="0" i="0" u="none" strike="noStrike" cap="none">
          <a:solidFill>
            <a:srgbClr val="1E2D24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1E2D24"/>
        </a:buClr>
        <a:buFont typeface="Arial"/>
        <a:defRPr sz="1400" b="0" i="0" u="none" strike="noStrike" cap="none">
          <a:solidFill>
            <a:srgbClr val="1E2D24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1E2D24"/>
        </a:buClr>
        <a:buFont typeface="Arial"/>
        <a:defRPr sz="1400" b="0" i="0" u="none" strike="noStrike" cap="none">
          <a:solidFill>
            <a:srgbClr val="1E2D24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1E2D24"/>
        </a:buClr>
        <a:buFont typeface="Arial"/>
        <a:defRPr sz="1400" b="0" i="0" u="none" strike="noStrike" cap="none">
          <a:solidFill>
            <a:srgbClr val="1E2D24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1E2D24"/>
        </a:buClr>
        <a:buFont typeface="Arial"/>
        <a:defRPr sz="1400" b="0" i="0" u="none" strike="noStrike" cap="none">
          <a:solidFill>
            <a:srgbClr val="1E2D24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1E2D24"/>
        </a:buClr>
        <a:buFont typeface="Arial"/>
        <a:defRPr sz="1400" b="0" i="0" u="none" strike="noStrike" cap="none">
          <a:solidFill>
            <a:srgbClr val="1E2D24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1E2D24"/>
        </a:buClr>
        <a:buFont typeface="Arial"/>
        <a:defRPr sz="1400" b="0" i="0" u="none" strike="noStrike" cap="none">
          <a:solidFill>
            <a:srgbClr val="1E2D24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1E2D24"/>
        </a:buClr>
        <a:buFont typeface="Arial"/>
        <a:defRPr sz="1400" b="0" i="0" u="none" strike="noStrike" cap="none">
          <a:solidFill>
            <a:srgbClr val="1E2D24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1E2D24"/>
        </a:buClr>
        <a:buFont typeface="Arial"/>
        <a:defRPr sz="1400" b="0" i="0" u="none" strike="noStrike" cap="none">
          <a:solidFill>
            <a:srgbClr val="1E2D24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1E2D24"/>
        </a:buClr>
        <a:buFont typeface="Arial"/>
        <a:defRPr sz="1400" b="0" i="0" u="none" strike="noStrike" cap="none">
          <a:solidFill>
            <a:srgbClr val="1E2D24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1E2D24"/>
        </a:buClr>
        <a:buFont typeface="Arial"/>
        <a:defRPr sz="1400" b="0" i="0" u="none" strike="noStrike" cap="none">
          <a:solidFill>
            <a:srgbClr val="1E2D24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1E2D24"/>
        </a:buClr>
        <a:buFont typeface="Arial"/>
        <a:defRPr sz="1400" b="0" i="0" u="none" strike="noStrike" cap="none">
          <a:solidFill>
            <a:srgbClr val="1E2D24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1E2D24"/>
        </a:buClr>
        <a:buFont typeface="Arial"/>
        <a:defRPr sz="1400" b="0" i="0" u="none" strike="noStrike" cap="none">
          <a:solidFill>
            <a:srgbClr val="1E2D24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1E2D24"/>
        </a:buClr>
        <a:buFont typeface="Arial"/>
        <a:defRPr sz="1400" b="0" i="0" u="none" strike="noStrike" cap="none">
          <a:solidFill>
            <a:srgbClr val="1E2D24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1E2D24"/>
        </a:buClr>
        <a:buFont typeface="Arial"/>
        <a:defRPr sz="1400" b="0" i="0" u="none" strike="noStrike" cap="none">
          <a:solidFill>
            <a:srgbClr val="1E2D24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1E2D24"/>
        </a:buClr>
        <a:buFont typeface="Arial"/>
        <a:defRPr sz="1400" b="0" i="0" u="none" strike="noStrike" cap="none">
          <a:solidFill>
            <a:srgbClr val="1E2D24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1E2D24"/>
        </a:buClr>
        <a:buFont typeface="Arial"/>
        <a:defRPr sz="1400" b="0" i="0" u="none" strike="noStrike" cap="none">
          <a:solidFill>
            <a:srgbClr val="1E2D24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1E2D24"/>
        </a:buClr>
        <a:buFont typeface="Arial"/>
        <a:defRPr sz="1400" b="0" i="0" u="none" strike="noStrike" cap="none">
          <a:solidFill>
            <a:srgbClr val="1E2D24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900"/>
              <a:t>React কী?</a:t>
            </a:r>
            <a:endParaRPr sz="5000"/>
          </a:p>
        </p:txBody>
      </p:sp>
      <p:sp>
        <p:nvSpPr>
          <p:cNvPr id="84" name="Google Shape;84;p14"/>
          <p:cNvSpPr txBox="1"/>
          <p:nvPr/>
        </p:nvSpPr>
        <p:spPr>
          <a:xfrm>
            <a:off x="497850" y="1282000"/>
            <a:ext cx="7903200" cy="22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 হলো একটি JavaScript library যা user interface (UI) তৈরির জন্য ব্যবহার হয়, বিশেষ করে single-page applications (SPA) এর জন্য। এটি component-based architecture ব্যবহার করে এবং Virtual DOM এর মাধ্যমে fast rendering নিশ্চিত করে।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Developed by Facebook (Meta)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Component-based → UI ছোট ছোট reusable parts এ ভাগ করা হয়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Uses Virtual DOM → performance fast হয়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One-way data flow → debugging সহজ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Used for building dynamic &amp; scalable web apps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5"/>
          <p:cNvSpPr txBox="1">
            <a:spLocks noGrp="1"/>
          </p:cNvSpPr>
          <p:nvPr>
            <p:ph type="title" idx="4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900"/>
              <a:t>React কেন ব্যবহার করা হয়?</a:t>
            </a:r>
            <a:endParaRPr sz="3900"/>
          </a:p>
        </p:txBody>
      </p:sp>
      <p:sp>
        <p:nvSpPr>
          <p:cNvPr id="90" name="Google Shape;90;p15"/>
          <p:cNvSpPr txBox="1"/>
          <p:nvPr/>
        </p:nvSpPr>
        <p:spPr>
          <a:xfrm>
            <a:off x="497850" y="1282000"/>
            <a:ext cx="7903200" cy="29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 ব্যবহার করা হয় fast, scalable এবং maintainable user interface তৈরি করার জন্য, বিশেষ করে large single-page applications (SPA) এর ক্ষেত্রে।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Reasons: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Component-based architecture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UI ছোট ছোট reusable components এ ভাগ করা যায়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Virtual DOM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Real DOM এর বদলে Virtual DOM update করে → rendering fast হয়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One-way data flow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Data predictable থাকে → debugging সহজ হয়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Reusable code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একই component বারবার ব্যবহার করা যায়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Strong ecosystem &amp; community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Huge library support, React Router, Redux, etc.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6"/>
          <p:cNvSpPr txBox="1">
            <a:spLocks noGrp="1"/>
          </p:cNvSpPr>
          <p:nvPr>
            <p:ph type="title" idx="4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900" dirty="0"/>
              <a:t>SPA কী?</a:t>
            </a:r>
            <a:endParaRPr sz="3900" dirty="0"/>
          </a:p>
        </p:txBody>
      </p:sp>
      <p:sp>
        <p:nvSpPr>
          <p:cNvPr id="96" name="Google Shape;96;p16"/>
          <p:cNvSpPr txBox="1"/>
          <p:nvPr/>
        </p:nvSpPr>
        <p:spPr>
          <a:xfrm>
            <a:off x="497850" y="1282000"/>
            <a:ext cx="7903200" cy="25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SPA (Single Page Application) হলো এমন একটি web application যেখানে পুরো page একবার load হয়, এরপর user interaction অনুযায়ী শুধুমাত্র প্রয়োজনীয় অংশ update হয় — নতুন করে পুরো page reload হয় না।</a:t>
            </a:r>
            <a:endParaRPr sz="1100" dirty="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 dirty="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Initial load একবারই হয়</a:t>
            </a:r>
            <a:endParaRPr sz="1100" dirty="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এরপর সব navigation ও UI update JavaScript দিয়ে dynamically হয়</a:t>
            </a:r>
            <a:endParaRPr sz="1100" dirty="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Fast user experience → no full page reload</a:t>
            </a:r>
            <a:endParaRPr sz="1100" dirty="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React, Angular, Vue দিয়ে SPA তৈরি করা হয়</a:t>
            </a:r>
            <a:endParaRPr sz="1100" dirty="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Example:</a:t>
            </a:r>
            <a:endParaRPr sz="1100" dirty="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 dirty="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Facebook, Gmail, YouTube web app — এগুলো SPA</a:t>
            </a:r>
            <a:endParaRPr sz="1100" dirty="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>
            <a:spLocks noGrp="1"/>
          </p:cNvSpPr>
          <p:nvPr>
            <p:ph type="title" idx="4"/>
          </p:nvPr>
        </p:nvSpPr>
        <p:spPr>
          <a:xfrm>
            <a:off x="497850" y="415725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900"/>
              <a:t>React vs Vanilla JS</a:t>
            </a:r>
            <a:endParaRPr sz="3900"/>
          </a:p>
        </p:txBody>
      </p:sp>
      <p:sp>
        <p:nvSpPr>
          <p:cNvPr id="102" name="Google Shape;102;p17"/>
          <p:cNvSpPr txBox="1"/>
          <p:nvPr/>
        </p:nvSpPr>
        <p:spPr>
          <a:xfrm>
            <a:off x="497850" y="1282000"/>
            <a:ext cx="7903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aphicFrame>
        <p:nvGraphicFramePr>
          <p:cNvPr id="103" name="Google Shape;103;p17"/>
          <p:cNvGraphicFramePr/>
          <p:nvPr/>
        </p:nvGraphicFramePr>
        <p:xfrm>
          <a:off x="952500" y="1047750"/>
          <a:ext cx="7239000" cy="3596400"/>
        </p:xfrm>
        <a:graphic>
          <a:graphicData uri="http://schemas.openxmlformats.org/drawingml/2006/table">
            <a:tbl>
              <a:tblPr>
                <a:noFill/>
                <a:tableStyleId>{45DBE877-EA56-4E50-8FC9-7BBC18411BFC}</a:tableStyleId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E2D24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Feature</a:t>
                      </a:r>
                      <a:endParaRPr>
                        <a:solidFill>
                          <a:srgbClr val="1E2D24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E2D24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React</a:t>
                      </a:r>
                      <a:endParaRPr>
                        <a:solidFill>
                          <a:srgbClr val="1E2D24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E2D24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Vanilla JavaScript</a:t>
                      </a:r>
                      <a:endParaRPr>
                        <a:solidFill>
                          <a:srgbClr val="1E2D24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E2D24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Architecture</a:t>
                      </a:r>
                      <a:endParaRPr>
                        <a:solidFill>
                          <a:srgbClr val="1E2D24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E2D24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Component-based</a:t>
                      </a:r>
                      <a:endParaRPr>
                        <a:solidFill>
                          <a:srgbClr val="1E2D24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E2D24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DOM manipulation based</a:t>
                      </a:r>
                      <a:endParaRPr>
                        <a:solidFill>
                          <a:srgbClr val="1E2D24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E2D24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DOM Handling</a:t>
                      </a:r>
                      <a:endParaRPr>
                        <a:solidFill>
                          <a:srgbClr val="1E2D24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E2D24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Uses Virtual DOM</a:t>
                      </a:r>
                      <a:endParaRPr>
                        <a:solidFill>
                          <a:srgbClr val="1E2D24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E2D24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Uses Real DOM directly</a:t>
                      </a:r>
                      <a:endParaRPr>
                        <a:solidFill>
                          <a:srgbClr val="1E2D24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E2D24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Performance</a:t>
                      </a:r>
                      <a:endParaRPr>
                        <a:solidFill>
                          <a:srgbClr val="1E2D24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E2D24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Faster for large apps</a:t>
                      </a:r>
                      <a:endParaRPr>
                        <a:solidFill>
                          <a:srgbClr val="1E2D24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E2D24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Slower when DOM updates are frequent</a:t>
                      </a:r>
                      <a:endParaRPr>
                        <a:solidFill>
                          <a:srgbClr val="1E2D24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E2D24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Code Reusability</a:t>
                      </a:r>
                      <a:endParaRPr>
                        <a:solidFill>
                          <a:srgbClr val="1E2D24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E2D24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High (Reusable components)</a:t>
                      </a:r>
                      <a:endParaRPr>
                        <a:solidFill>
                          <a:srgbClr val="1E2D24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E2D24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Low (Manual reuse)</a:t>
                      </a:r>
                      <a:endParaRPr>
                        <a:solidFill>
                          <a:srgbClr val="1E2D24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E2D24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State Management</a:t>
                      </a:r>
                      <a:endParaRPr>
                        <a:solidFill>
                          <a:srgbClr val="1E2D24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E2D24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Built-in state &amp; hooks</a:t>
                      </a:r>
                      <a:endParaRPr>
                        <a:solidFill>
                          <a:srgbClr val="1E2D24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E2D24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Manually manage state</a:t>
                      </a:r>
                      <a:endParaRPr>
                        <a:solidFill>
                          <a:srgbClr val="1E2D24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E2D24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Scalability</a:t>
                      </a:r>
                      <a:endParaRPr>
                        <a:solidFill>
                          <a:srgbClr val="1E2D24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E2D24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Best for large SPA</a:t>
                      </a:r>
                      <a:endParaRPr>
                        <a:solidFill>
                          <a:srgbClr val="1E2D24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E2D24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Hard to scale</a:t>
                      </a:r>
                      <a:endParaRPr>
                        <a:solidFill>
                          <a:srgbClr val="1E2D24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E2D24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Learning Curve</a:t>
                      </a:r>
                      <a:endParaRPr>
                        <a:solidFill>
                          <a:srgbClr val="1E2D24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E2D24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Moderate</a:t>
                      </a:r>
                      <a:endParaRPr>
                        <a:solidFill>
                          <a:srgbClr val="1E2D24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E2D24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Easy for small projects</a:t>
                      </a:r>
                      <a:endParaRPr>
                        <a:solidFill>
                          <a:srgbClr val="1E2D24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 txBox="1">
            <a:spLocks noGrp="1"/>
          </p:cNvSpPr>
          <p:nvPr>
            <p:ph type="title" idx="4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900" dirty="0"/>
              <a:t>JSX কী? </a:t>
            </a:r>
            <a:r>
              <a:rPr lang="en" sz="3900"/>
              <a:t>VS code Theory</a:t>
            </a:r>
            <a:endParaRPr sz="3900" dirty="0"/>
          </a:p>
        </p:txBody>
      </p:sp>
      <p:sp>
        <p:nvSpPr>
          <p:cNvPr id="109" name="Google Shape;109;p18"/>
          <p:cNvSpPr txBox="1"/>
          <p:nvPr/>
        </p:nvSpPr>
        <p:spPr>
          <a:xfrm>
            <a:off x="497850" y="1282000"/>
            <a:ext cx="7903200" cy="144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JSX browser বুঝে না কারণ JSX হলো JavaScript-এর standard syntax না — এটি React-এর একটি syntax extension। Browser শুধু pure JavaScript বোঝে, JSX নয়।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Explanation: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JSX দেখতে HTML-এর মতো হলেও এটি আসলে JavaScript code না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তাই Babel বা TypeScript JSX কে convert করে নিচের মতো pure JS এ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9"/>
          <p:cNvSpPr txBox="1">
            <a:spLocks noGrp="1"/>
          </p:cNvSpPr>
          <p:nvPr>
            <p:ph type="title" idx="4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900"/>
              <a:t>Virtual DOM কী?</a:t>
            </a:r>
            <a:endParaRPr sz="3900"/>
          </a:p>
        </p:txBody>
      </p:sp>
      <p:sp>
        <p:nvSpPr>
          <p:cNvPr id="115" name="Google Shape;115;p19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Virtual DOM হলো JavaScript object tree যা Real DOM-এর lightweight copy হিসেবে কাজ করে এবং React এই Virtual DOM ব্যবহার করে efficiently UI update করে।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Real DOM manipulate করা slow → তাই React আগে Virtual DOM update করে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 নতুন Virtual DOM এবং পুরনো Virtual DOM compare করে (diffing)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যে part change হয়েছে শুধু সেটুকুই Real DOM-এ update করে (reconciliation)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0"/>
          <p:cNvSpPr txBox="1">
            <a:spLocks noGrp="1"/>
          </p:cNvSpPr>
          <p:nvPr>
            <p:ph type="title" idx="4"/>
          </p:nvPr>
        </p:nvSpPr>
        <p:spPr>
          <a:xfrm>
            <a:off x="497850" y="415725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900"/>
              <a:t>Real DOM vs Virtual DOM</a:t>
            </a:r>
            <a:endParaRPr sz="3900"/>
          </a:p>
        </p:txBody>
      </p:sp>
      <p:sp>
        <p:nvSpPr>
          <p:cNvPr id="121" name="Google Shape;121;p20"/>
          <p:cNvSpPr txBox="1"/>
          <p:nvPr/>
        </p:nvSpPr>
        <p:spPr>
          <a:xfrm>
            <a:off x="497850" y="1282000"/>
            <a:ext cx="7903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aphicFrame>
        <p:nvGraphicFramePr>
          <p:cNvPr id="122" name="Google Shape;122;p20"/>
          <p:cNvGraphicFramePr/>
          <p:nvPr/>
        </p:nvGraphicFramePr>
        <p:xfrm>
          <a:off x="952500" y="1047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{45DBE877-EA56-4E50-8FC9-7BBC18411BFC}</a:tableStyleId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E2D24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Feature</a:t>
                      </a:r>
                      <a:endParaRPr>
                        <a:solidFill>
                          <a:srgbClr val="1E2D24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E2D24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Real DOM</a:t>
                      </a:r>
                      <a:endParaRPr>
                        <a:solidFill>
                          <a:srgbClr val="1E2D24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E2D24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Virtual DOM</a:t>
                      </a:r>
                      <a:endParaRPr>
                        <a:solidFill>
                          <a:srgbClr val="1E2D24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E2D24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Definition</a:t>
                      </a:r>
                      <a:endParaRPr>
                        <a:solidFill>
                          <a:srgbClr val="1E2D24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E2D24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Browser-এর actual DOM tree</a:t>
                      </a:r>
                      <a:endParaRPr>
                        <a:solidFill>
                          <a:srgbClr val="1E2D24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E2D24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In-memory lightweight JS object copy</a:t>
                      </a:r>
                      <a:endParaRPr>
                        <a:solidFill>
                          <a:srgbClr val="1E2D24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E2D24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Update speed</a:t>
                      </a:r>
                      <a:endParaRPr>
                        <a:solidFill>
                          <a:srgbClr val="1E2D24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E2D24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Slow – whole DOM reflow/repaint হতে পারে</a:t>
                      </a:r>
                      <a:endParaRPr>
                        <a:solidFill>
                          <a:srgbClr val="1E2D24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E2D24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Fast – only changed parts update</a:t>
                      </a:r>
                      <a:endParaRPr>
                        <a:solidFill>
                          <a:srgbClr val="1E2D24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E2D24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Manipulation</a:t>
                      </a:r>
                      <a:endParaRPr>
                        <a:solidFill>
                          <a:srgbClr val="1E2D24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E2D24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Directly browser DOM update</a:t>
                      </a:r>
                      <a:endParaRPr>
                        <a:solidFill>
                          <a:srgbClr val="1E2D24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E2D24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First update Virtual DOM then diff</a:t>
                      </a:r>
                      <a:endParaRPr>
                        <a:solidFill>
                          <a:srgbClr val="1E2D24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E2D24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Performance</a:t>
                      </a:r>
                      <a:endParaRPr>
                        <a:solidFill>
                          <a:srgbClr val="1E2D24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E2D24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Poor for large apps</a:t>
                      </a:r>
                      <a:endParaRPr>
                        <a:solidFill>
                          <a:srgbClr val="1E2D24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E2D24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Optimized for large SPA</a:t>
                      </a:r>
                      <a:endParaRPr>
                        <a:solidFill>
                          <a:srgbClr val="1E2D24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E2D24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Re-render cost</a:t>
                      </a:r>
                      <a:endParaRPr>
                        <a:solidFill>
                          <a:srgbClr val="1E2D24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E2D24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High</a:t>
                      </a:r>
                      <a:endParaRPr>
                        <a:solidFill>
                          <a:srgbClr val="1E2D24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E2D24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Low</a:t>
                      </a:r>
                      <a:endParaRPr>
                        <a:solidFill>
                          <a:srgbClr val="1E2D24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1"/>
          <p:cNvSpPr txBox="1">
            <a:spLocks noGrp="1"/>
          </p:cNvSpPr>
          <p:nvPr>
            <p:ph type="title" idx="4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900"/>
              <a:t>React element কী?</a:t>
            </a:r>
            <a:endParaRPr sz="3900"/>
          </a:p>
        </p:txBody>
      </p:sp>
      <p:sp>
        <p:nvSpPr>
          <p:cNvPr id="128" name="Google Shape;128;p21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 Element হলো একটি plain JavaScript object যা UI-এর একটি node কে represent করে। এটি immutable এবং React এই element দিয়েই Virtual DOM তৈরি করে।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 element হচ্ছে UI-এর smallest building block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এটি immutable → তৈরি হওয়ার পর change করা যায় না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JSX আসলে React element-এই compile হয়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2"/>
          <p:cNvSpPr txBox="1">
            <a:spLocks noGrp="1"/>
          </p:cNvSpPr>
          <p:nvPr>
            <p:ph type="title" idx="4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900"/>
              <a:t>React component কী?</a:t>
            </a:r>
            <a:endParaRPr sz="3900"/>
          </a:p>
        </p:txBody>
      </p:sp>
      <p:sp>
        <p:nvSpPr>
          <p:cNvPr id="134" name="Google Shape;134;p22"/>
          <p:cNvSpPr txBox="1"/>
          <p:nvPr/>
        </p:nvSpPr>
        <p:spPr>
          <a:xfrm>
            <a:off x="497850" y="1282000"/>
            <a:ext cx="7903200" cy="20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 Component হলো একটি reusable JavaScript function বা class যা UI-এর একটি অংশ render করে। Component ব্যবহার করে UI modular এবং maintainable হয়।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 component হলো building block of UI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দুই ধরনের component: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Functional Component → function-based, simple, hooks use করতে পারে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Class Component → class-based, state &amp; lifecycle methods ব্যবহার করে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Component props দিয়ে parent থেকে data receive করতে পারে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3"/>
          <p:cNvSpPr txBox="1">
            <a:spLocks noGrp="1"/>
          </p:cNvSpPr>
          <p:nvPr>
            <p:ph type="title" idx="4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900"/>
              <a:t>Props কী?</a:t>
            </a:r>
            <a:endParaRPr sz="3900"/>
          </a:p>
        </p:txBody>
      </p:sp>
      <p:sp>
        <p:nvSpPr>
          <p:cNvPr id="140" name="Google Shape;140;p23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Props (Properties) হলো React-এর একটি mechanism যা parent component থেকে child component-এ data pass করার জন্য ব্যবহার করা হয়।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Props read-only / immutable → child component data পরিবর্তন করতে পারবে না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Props দিয়ে dynamic rendering possible হয়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Props হলো function arguments-এর মতো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4"/>
          <p:cNvSpPr txBox="1">
            <a:spLocks noGrp="1"/>
          </p:cNvSpPr>
          <p:nvPr>
            <p:ph type="title" idx="4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900"/>
              <a:t>Props immutable কেন?</a:t>
            </a:r>
            <a:endParaRPr sz="3900"/>
          </a:p>
        </p:txBody>
      </p:sp>
      <p:sp>
        <p:nvSpPr>
          <p:cNvPr id="146" name="Google Shape;146;p24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Props immutable কারণ child component কে parent থেকে data receive করার সময় শুধু read-only access দেওয়া হয়, যাতে parent component-এর state predictable থাকে এবং UI consistency maintain হয়।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Props read-only → child cannot modify parent data directly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Immutable props → one-way data flow maintained (Parent → Child)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State changes করতে চাইলে callback function বা lifting state up ব্যবহার করা হয়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5"/>
          <p:cNvSpPr txBox="1">
            <a:spLocks noGrp="1"/>
          </p:cNvSpPr>
          <p:nvPr>
            <p:ph type="title" idx="4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600"/>
              <a:t>Parent to child data pass কীভাবে হয়?</a:t>
            </a:r>
            <a:endParaRPr sz="360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3600"/>
          </a:p>
        </p:txBody>
      </p:sp>
      <p:sp>
        <p:nvSpPr>
          <p:cNvPr id="152" name="Google Shape;152;p25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Parent থেকে Child component-এ data pass করার জন্য Props ব্যবহার করা হয়। Parent component props হিসেবে key-value pair child component-এ পাঠায়।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Props হলো read-only attributes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Child component JSX-এ props access করে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Dynamic data parent থেকে directly pass করা যায়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6"/>
          <p:cNvSpPr txBox="1">
            <a:spLocks noGrp="1"/>
          </p:cNvSpPr>
          <p:nvPr>
            <p:ph type="title" idx="4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Child থেকে parent এ data পাঠানো যায় কীভাবে?</a:t>
            </a:r>
            <a:endParaRPr sz="3000"/>
          </a:p>
        </p:txBody>
      </p:sp>
      <p:sp>
        <p:nvSpPr>
          <p:cNvPr id="158" name="Google Shape;158;p26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Child থেকে Parent component-এ data পাঠানোর জন্য Parent একটি callback function props হিসেবে Child-এ pass করে এবং Child সেই function কল করে data পাঠায়।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Props-এর মাধ্যমে function pass করা হয়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Child function call করে data Parent-এ পাঠায়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This maintains unidirectional data flow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7"/>
          <p:cNvSpPr txBox="1">
            <a:spLocks noGrp="1"/>
          </p:cNvSpPr>
          <p:nvPr>
            <p:ph type="title" idx="4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Default props কী?</a:t>
            </a:r>
            <a:endParaRPr sz="3000"/>
          </a:p>
        </p:txBody>
      </p:sp>
      <p:sp>
        <p:nvSpPr>
          <p:cNvPr id="164" name="Google Shape;164;p27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Default props হলো এমন props যা React component-এ predefined value হিসেবে set করা থাকে, যদি parent component সেই prop pass না করে।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Parent যদি prop provide না করে → default props use হবে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Functional &amp; Class components দুটিতেই ব্যবহার করা যায়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Improves component reliability ও fallback behavior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8"/>
          <p:cNvSpPr txBox="1">
            <a:spLocks noGrp="1"/>
          </p:cNvSpPr>
          <p:nvPr>
            <p:ph type="title" idx="4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Props drilling কী?</a:t>
            </a:r>
            <a:endParaRPr sz="3000"/>
          </a:p>
        </p:txBody>
      </p:sp>
      <p:sp>
        <p:nvSpPr>
          <p:cNvPr id="170" name="Google Shape;170;p28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Props drilling হলো একটি scenario যেখানে parent component থেকে data pass করতে হয় deeply nested child component-এ props chain-এর মাধ্যমে, এবং intermediate components শুধুমাত্র data forward করে।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Props unidirectional → top-to-bottom pass হয়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Deeply nested structure হলে অনেক intermediate component-এ props pass করতে হয়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Complexity বাড়ে → Redux বা Context API দিয়ে solve করা যায়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9"/>
          <p:cNvSpPr txBox="1">
            <a:spLocks noGrp="1"/>
          </p:cNvSpPr>
          <p:nvPr>
            <p:ph type="title" idx="4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Component reusability কী?</a:t>
            </a:r>
            <a:endParaRPr sz="3000"/>
          </a:p>
        </p:txBody>
      </p:sp>
      <p:sp>
        <p:nvSpPr>
          <p:cNvPr id="176" name="Google Shape;176;p29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Component reusability হলো React-এর একটি feature যেখানে একই component বিভিন্ন জায়গায় reuse করা যায়, একই UI logic multiple places apply করা সম্ভব হয়।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Small, modular, isolated components সহজে reuse করা যায়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Props ব্যবহার করে component behavior customize করা যায়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Reduces code duplication এবং improves maintainability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0"/>
          <p:cNvSpPr txBox="1">
            <a:spLocks noGrp="1"/>
          </p:cNvSpPr>
          <p:nvPr>
            <p:ph type="title" idx="4"/>
          </p:nvPr>
        </p:nvSpPr>
        <p:spPr>
          <a:xfrm>
            <a:off x="497850" y="415725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400"/>
              <a:t>Controlled vs Uncontrolled component</a:t>
            </a:r>
            <a:endParaRPr sz="340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3400"/>
          </a:p>
        </p:txBody>
      </p:sp>
      <p:sp>
        <p:nvSpPr>
          <p:cNvPr id="182" name="Google Shape;182;p30"/>
          <p:cNvSpPr txBox="1"/>
          <p:nvPr/>
        </p:nvSpPr>
        <p:spPr>
          <a:xfrm>
            <a:off x="497850" y="1282000"/>
            <a:ext cx="7903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aphicFrame>
        <p:nvGraphicFramePr>
          <p:cNvPr id="183" name="Google Shape;183;p30"/>
          <p:cNvGraphicFramePr/>
          <p:nvPr/>
        </p:nvGraphicFramePr>
        <p:xfrm>
          <a:off x="952500" y="1047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{45DBE877-EA56-4E50-8FC9-7BBC18411BFC}</a:tableStyleId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E2D24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Feature</a:t>
                      </a:r>
                      <a:endParaRPr>
                        <a:solidFill>
                          <a:srgbClr val="1E2D24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E2D24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Controlled Component</a:t>
                      </a:r>
                      <a:endParaRPr>
                        <a:solidFill>
                          <a:srgbClr val="1E2D24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E2D24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Uncontrolled Component</a:t>
                      </a:r>
                      <a:endParaRPr>
                        <a:solidFill>
                          <a:srgbClr val="1E2D24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E2D24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Definition</a:t>
                      </a:r>
                      <a:endParaRPr>
                        <a:solidFill>
                          <a:srgbClr val="1E2D24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E2D24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Form input value controlled by React state</a:t>
                      </a:r>
                      <a:endParaRPr>
                        <a:solidFill>
                          <a:srgbClr val="1E2D24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E2D24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Form input value handled by DOM itself</a:t>
                      </a:r>
                      <a:endParaRPr>
                        <a:solidFill>
                          <a:srgbClr val="1E2D24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E2D24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Data Flow</a:t>
                      </a:r>
                      <a:endParaRPr>
                        <a:solidFill>
                          <a:srgbClr val="1E2D24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E2D24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React → input (state drives value)</a:t>
                      </a:r>
                      <a:endParaRPr>
                        <a:solidFill>
                          <a:srgbClr val="1E2D24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E2D24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DOM manages value, React reads via ref</a:t>
                      </a:r>
                      <a:endParaRPr>
                        <a:solidFill>
                          <a:srgbClr val="1E2D24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E2D24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Accessing Value</a:t>
                      </a:r>
                      <a:endParaRPr>
                        <a:solidFill>
                          <a:srgbClr val="1E2D24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E2D24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this.state / useState</a:t>
                      </a:r>
                      <a:endParaRPr>
                        <a:solidFill>
                          <a:srgbClr val="1E2D24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E2D24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ref.current.value</a:t>
                      </a:r>
                      <a:endParaRPr>
                        <a:solidFill>
                          <a:srgbClr val="1E2D24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E2D24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Updates</a:t>
                      </a:r>
                      <a:endParaRPr>
                        <a:solidFill>
                          <a:srgbClr val="1E2D24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E2D24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OnChange handler required</a:t>
                      </a:r>
                      <a:endParaRPr>
                        <a:solidFill>
                          <a:srgbClr val="1E2D24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E2D24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No handler needed</a:t>
                      </a:r>
                      <a:endParaRPr>
                        <a:solidFill>
                          <a:srgbClr val="1E2D24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E2D24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Validation</a:t>
                      </a:r>
                      <a:endParaRPr>
                        <a:solidFill>
                          <a:srgbClr val="1E2D24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E2D24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Easier in React</a:t>
                      </a:r>
                      <a:endParaRPr>
                        <a:solidFill>
                          <a:srgbClr val="1E2D24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E2D24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Harder, requires DOM access</a:t>
                      </a:r>
                      <a:endParaRPr>
                        <a:solidFill>
                          <a:srgbClr val="1E2D24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1"/>
          <p:cNvSpPr txBox="1">
            <a:spLocks noGrp="1"/>
          </p:cNvSpPr>
          <p:nvPr>
            <p:ph type="title" idx="4"/>
          </p:nvPr>
        </p:nvSpPr>
        <p:spPr>
          <a:xfrm>
            <a:off x="497850" y="415725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400"/>
              <a:t>Stateless vs Stateful component</a:t>
            </a:r>
            <a:endParaRPr sz="3400"/>
          </a:p>
        </p:txBody>
      </p:sp>
      <p:sp>
        <p:nvSpPr>
          <p:cNvPr id="189" name="Google Shape;189;p31"/>
          <p:cNvSpPr txBox="1"/>
          <p:nvPr/>
        </p:nvSpPr>
        <p:spPr>
          <a:xfrm>
            <a:off x="497850" y="1282000"/>
            <a:ext cx="7903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aphicFrame>
        <p:nvGraphicFramePr>
          <p:cNvPr id="190" name="Google Shape;190;p31"/>
          <p:cNvGraphicFramePr/>
          <p:nvPr/>
        </p:nvGraphicFramePr>
        <p:xfrm>
          <a:off x="952500" y="1047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{45DBE877-EA56-4E50-8FC9-7BBC18411BFC}</a:tableStyleId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E2D24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Feature</a:t>
                      </a:r>
                      <a:endParaRPr>
                        <a:solidFill>
                          <a:srgbClr val="1E2D24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E2D24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Stateless Component</a:t>
                      </a:r>
                      <a:endParaRPr>
                        <a:solidFill>
                          <a:srgbClr val="1E2D24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E2D24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Stateful Component</a:t>
                      </a:r>
                      <a:endParaRPr>
                        <a:solidFill>
                          <a:srgbClr val="1E2D24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E2D24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Definition</a:t>
                      </a:r>
                      <a:endParaRPr>
                        <a:solidFill>
                          <a:srgbClr val="1E2D24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E2D24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Component that does not maintain its own state</a:t>
                      </a:r>
                      <a:endParaRPr>
                        <a:solidFill>
                          <a:srgbClr val="1E2D24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E2D24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Component that maintains and manages its own state</a:t>
                      </a:r>
                      <a:endParaRPr>
                        <a:solidFill>
                          <a:srgbClr val="1E2D24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E2D24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State</a:t>
                      </a:r>
                      <a:endParaRPr>
                        <a:solidFill>
                          <a:srgbClr val="1E2D24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E2D24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None</a:t>
                      </a:r>
                      <a:endParaRPr>
                        <a:solidFill>
                          <a:srgbClr val="1E2D24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E2D24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Has state (class) or useState (functional)</a:t>
                      </a:r>
                      <a:endParaRPr>
                        <a:solidFill>
                          <a:srgbClr val="1E2D24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E2D24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Lifecycle</a:t>
                      </a:r>
                      <a:endParaRPr>
                        <a:solidFill>
                          <a:srgbClr val="1E2D24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E2D24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Simple, mostly render only</a:t>
                      </a:r>
                      <a:endParaRPr>
                        <a:solidFill>
                          <a:srgbClr val="1E2D24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E2D24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Can use lifecycle methods/hooks</a:t>
                      </a:r>
                      <a:endParaRPr>
                        <a:solidFill>
                          <a:srgbClr val="1E2D24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E2D24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Re-render</a:t>
                      </a:r>
                      <a:endParaRPr>
                        <a:solidFill>
                          <a:srgbClr val="1E2D24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E2D24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Re-renders on props change</a:t>
                      </a:r>
                      <a:endParaRPr>
                        <a:solidFill>
                          <a:srgbClr val="1E2D24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E2D24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Re-renders on state or props change</a:t>
                      </a:r>
                      <a:endParaRPr>
                        <a:solidFill>
                          <a:srgbClr val="1E2D24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E2D24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Complexity</a:t>
                      </a:r>
                      <a:endParaRPr>
                        <a:solidFill>
                          <a:srgbClr val="1E2D24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E2D24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Simple</a:t>
                      </a:r>
                      <a:endParaRPr>
                        <a:solidFill>
                          <a:srgbClr val="1E2D24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E2D24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More complex</a:t>
                      </a:r>
                      <a:endParaRPr>
                        <a:solidFill>
                          <a:srgbClr val="1E2D24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2"/>
          <p:cNvSpPr txBox="1">
            <a:spLocks noGrp="1"/>
          </p:cNvSpPr>
          <p:nvPr>
            <p:ph type="title" idx="4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State কী?</a:t>
            </a:r>
            <a:endParaRPr sz="3000"/>
          </a:p>
        </p:txBody>
      </p:sp>
      <p:sp>
        <p:nvSpPr>
          <p:cNvPr id="196" name="Google Shape;196;p32"/>
          <p:cNvSpPr txBox="1"/>
          <p:nvPr/>
        </p:nvSpPr>
        <p:spPr>
          <a:xfrm>
            <a:off x="497850" y="1282000"/>
            <a:ext cx="7903200" cy="18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State হলো একটি JavaScript object যা React component-এর dynamic data বা UI-এর current condition represent করে। Component state change হলে React automatically UI update করে।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State mutable এবং component-এর context-specific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Functional component → useState hook দিয়ে manage হয়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Class component → this.state এবং this.setState() দিয়ে manage হয়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State change হলে component re-render হয়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3"/>
          <p:cNvSpPr txBox="1">
            <a:spLocks noGrp="1"/>
          </p:cNvSpPr>
          <p:nvPr>
            <p:ph type="title" idx="4"/>
          </p:nvPr>
        </p:nvSpPr>
        <p:spPr>
          <a:xfrm>
            <a:off x="497850" y="415725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400"/>
              <a:t>Props vs State</a:t>
            </a:r>
            <a:endParaRPr sz="3400"/>
          </a:p>
        </p:txBody>
      </p:sp>
      <p:sp>
        <p:nvSpPr>
          <p:cNvPr id="202" name="Google Shape;202;p33"/>
          <p:cNvSpPr txBox="1"/>
          <p:nvPr/>
        </p:nvSpPr>
        <p:spPr>
          <a:xfrm>
            <a:off x="497850" y="1282000"/>
            <a:ext cx="7903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aphicFrame>
        <p:nvGraphicFramePr>
          <p:cNvPr id="203" name="Google Shape;203;p33"/>
          <p:cNvGraphicFramePr/>
          <p:nvPr/>
        </p:nvGraphicFramePr>
        <p:xfrm>
          <a:off x="952500" y="1047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{45DBE877-EA56-4E50-8FC9-7BBC18411BFC}</a:tableStyleId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E2D24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Feature</a:t>
                      </a:r>
                      <a:endParaRPr>
                        <a:solidFill>
                          <a:srgbClr val="1E2D24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E2D24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Props</a:t>
                      </a:r>
                      <a:endParaRPr>
                        <a:solidFill>
                          <a:srgbClr val="1E2D24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E2D24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State</a:t>
                      </a:r>
                      <a:endParaRPr>
                        <a:solidFill>
                          <a:srgbClr val="1E2D24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E2D24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Definition</a:t>
                      </a:r>
                      <a:endParaRPr>
                        <a:solidFill>
                          <a:srgbClr val="1E2D24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E2D24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Parent থেকে child-এ pass করা read-only data</a:t>
                      </a:r>
                      <a:endParaRPr>
                        <a:solidFill>
                          <a:srgbClr val="1E2D24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E2D24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Component-এর internal, mutable data</a:t>
                      </a:r>
                      <a:endParaRPr>
                        <a:solidFill>
                          <a:srgbClr val="1E2D24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E2D24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Mutability</a:t>
                      </a:r>
                      <a:endParaRPr>
                        <a:solidFill>
                          <a:srgbClr val="1E2D24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E2D24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Immutable</a:t>
                      </a:r>
                      <a:endParaRPr>
                        <a:solidFill>
                          <a:srgbClr val="1E2D24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E2D24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Mutable</a:t>
                      </a:r>
                      <a:endParaRPr>
                        <a:solidFill>
                          <a:srgbClr val="1E2D24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E2D24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Who Controls</a:t>
                      </a:r>
                      <a:endParaRPr>
                        <a:solidFill>
                          <a:srgbClr val="1E2D24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E2D24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Parent component</a:t>
                      </a:r>
                      <a:endParaRPr>
                        <a:solidFill>
                          <a:srgbClr val="1E2D24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E2D24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Own component</a:t>
                      </a:r>
                      <a:endParaRPr>
                        <a:solidFill>
                          <a:srgbClr val="1E2D24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E2D24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Re-render</a:t>
                      </a:r>
                      <a:endParaRPr>
                        <a:solidFill>
                          <a:srgbClr val="1E2D24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E2D24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Changes in props trigger re-render</a:t>
                      </a:r>
                      <a:endParaRPr>
                        <a:solidFill>
                          <a:srgbClr val="1E2D24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E2D24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State changes trigger re-render</a:t>
                      </a:r>
                      <a:endParaRPr>
                        <a:solidFill>
                          <a:srgbClr val="1E2D24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E2D24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Usage</a:t>
                      </a:r>
                      <a:endParaRPr>
                        <a:solidFill>
                          <a:srgbClr val="1E2D24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E2D24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Dynamic data from parent</a:t>
                      </a:r>
                      <a:endParaRPr>
                        <a:solidFill>
                          <a:srgbClr val="1E2D24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E2D24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Data that can change within component</a:t>
                      </a:r>
                      <a:endParaRPr>
                        <a:solidFill>
                          <a:srgbClr val="1E2D24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4"/>
          <p:cNvSpPr txBox="1">
            <a:spLocks noGrp="1"/>
          </p:cNvSpPr>
          <p:nvPr>
            <p:ph type="title" idx="4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setState async কেন?</a:t>
            </a:r>
            <a:endParaRPr sz="3000"/>
          </a:p>
        </p:txBody>
      </p:sp>
      <p:sp>
        <p:nvSpPr>
          <p:cNvPr id="209" name="Google Shape;209;p34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setState asynchronous কারণ React performance optimize করতে state updates কে batch করে এবং একসাথে process করে, যাতে multiple state changes একসাথে re-render trigger করে।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Multiple setState calls একসাথে batch করা হয় → performance improve হয়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Directly this.state read করলে immediate update দেখা যায় না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Updated state access করতে হলে callback function বা useEffect hook ব্যবহার করা হয়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5"/>
          <p:cNvSpPr txBox="1">
            <a:spLocks noGrp="1"/>
          </p:cNvSpPr>
          <p:nvPr>
            <p:ph type="title" idx="4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State directly update করা যায় না কেন?</a:t>
            </a:r>
            <a:endParaRPr sz="3000"/>
          </a:p>
        </p:txBody>
      </p:sp>
      <p:sp>
        <p:nvSpPr>
          <p:cNvPr id="215" name="Google Shape;215;p35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React-এ state directly update করা যায় না কারণ direct mutation করলে UI re-render automatic trigger হবে না এবং React-এর internal state management predictable থাকবে না।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 reconciliation &amp; Virtual DOM rely করে setState-এর মাধ্যমে state update-এ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Directly this.state = ... করলে component re-render হয় না → UI inconsistent হতে পারে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Always use this.setState() (class) বা useState setter (functional)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6"/>
          <p:cNvSpPr txBox="1">
            <a:spLocks noGrp="1"/>
          </p:cNvSpPr>
          <p:nvPr>
            <p:ph type="title" idx="4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React lifecycle phases</a:t>
            </a:r>
            <a:endParaRPr sz="3000"/>
          </a:p>
        </p:txBody>
      </p:sp>
      <p:sp>
        <p:nvSpPr>
          <p:cNvPr id="221" name="Google Shape;221;p36"/>
          <p:cNvSpPr txBox="1"/>
          <p:nvPr/>
        </p:nvSpPr>
        <p:spPr>
          <a:xfrm>
            <a:off x="497850" y="1282000"/>
            <a:ext cx="7903200" cy="24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 Lifecycle Phases হলো component-এর জীবনের বিভিন্ন stage যা React manage করে, বিশেষ করে Class Components-এর ক্ষেত্রে।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3 Main Phases: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Mounting – Component তৈরি হয়ে DOM-এ insert হয়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Methods: constructor(), static getDerivedStateFromProps(), render(), componentDidMount()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Updating – Component state বা props পরিবর্তনের পর re-render হয়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Methods: static getDerivedStateFromProps(), shouldComponentUpdate(), render(), getSnapshotBeforeUpdate(), componentDidUpdate()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Unmounting – Component DOM থেকে remove হয়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Method: componentWillUnmount()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7"/>
          <p:cNvSpPr txBox="1">
            <a:spLocks noGrp="1"/>
          </p:cNvSpPr>
          <p:nvPr>
            <p:ph type="title" idx="4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useEffect কী?</a:t>
            </a:r>
            <a:endParaRPr sz="3000"/>
          </a:p>
        </p:txBody>
      </p:sp>
      <p:sp>
        <p:nvSpPr>
          <p:cNvPr id="227" name="Google Shape;227;p37"/>
          <p:cNvSpPr txBox="1"/>
          <p:nvPr/>
        </p:nvSpPr>
        <p:spPr>
          <a:xfrm>
            <a:off x="497850" y="1282000"/>
            <a:ext cx="7903200" cy="18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useEffect হলো React Hook যা functional component-এ side effects manage করার জন্য ব্যবহার হয়, যেমন API call, DOM manipulation, subscriptions ইত্যাদি।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Functional component-এ lifecycle methods alternative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Runs after rendering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Can control when to run using dependency array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Supports cleanup function for unmount or dependency change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8"/>
          <p:cNvSpPr txBox="1">
            <a:spLocks noGrp="1"/>
          </p:cNvSpPr>
          <p:nvPr>
            <p:ph type="title" idx="4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useEffect dependency array</a:t>
            </a:r>
            <a:endParaRPr sz="3000"/>
          </a:p>
        </p:txBody>
      </p:sp>
      <p:sp>
        <p:nvSpPr>
          <p:cNvPr id="233" name="Google Shape;233;p38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useEffect dependency array হলো একটি array যা নির্ধারণ করে কখন effect function টি execute হবে।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Empty array [] → Effect শুধু mount এর সময় একবার চালায়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No array → Effect every render এ run হয়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With dependencies [dep1, dep2] → Effect শুধু তখন run হয় যখন নির্দিষ্ট dependency change হয়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Helps performance optimization এবং unnecessary effect execution কমায়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9"/>
          <p:cNvSpPr txBox="1">
            <a:spLocks noGrp="1"/>
          </p:cNvSpPr>
          <p:nvPr>
            <p:ph type="title" idx="4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Hook কী?</a:t>
            </a:r>
            <a:endParaRPr sz="3000"/>
          </a:p>
        </p:txBody>
      </p:sp>
      <p:sp>
        <p:nvSpPr>
          <p:cNvPr id="239" name="Google Shape;239;p39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Hook হলো React-এর special function যা functional component-এ state, lifecycle ও অন্যান্য React feature ব্যবহার করতে দেয়।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Hooks ছাড়া আগে এগুলো শুধু Class component-এই সম্ভব ছিল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Hooks use দিয়ে শুরু হয় – যেমন: useState, useEffect, useContext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Hooks component-কে stateful ও dynamic করে তোলে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0"/>
          <p:cNvSpPr txBox="1">
            <a:spLocks noGrp="1"/>
          </p:cNvSpPr>
          <p:nvPr>
            <p:ph type="title" idx="4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React Hooks কেন introduce করা হয়েছে?</a:t>
            </a:r>
            <a:endParaRPr sz="3000"/>
          </a:p>
        </p:txBody>
      </p:sp>
      <p:sp>
        <p:nvSpPr>
          <p:cNvPr id="245" name="Google Shape;245;p40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 Hooks introduce করা হয়েছে functional component-এ state ও lifecycle features ব্যবহার করার জন্য এবং class component-এর complexity কমানোর জন্য।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Reasons: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Class component-এ this, binding, lifecycle methods complex ছিল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Logic reuse করা কঠিন ছিল (HOC, Render Props messy)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Hooks functional component-কে powerful ও cleaner করে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1"/>
          <p:cNvSpPr txBox="1">
            <a:spLocks noGrp="1"/>
          </p:cNvSpPr>
          <p:nvPr>
            <p:ph type="title" idx="4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useState কী?</a:t>
            </a:r>
            <a:endParaRPr sz="3000"/>
          </a:p>
        </p:txBody>
      </p:sp>
      <p:sp>
        <p:nvSpPr>
          <p:cNvPr id="251" name="Google Shape;251;p41"/>
          <p:cNvSpPr txBox="1"/>
          <p:nvPr/>
        </p:nvSpPr>
        <p:spPr>
          <a:xfrm>
            <a:off x="497850" y="1282000"/>
            <a:ext cx="7903200" cy="144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useState হলো React Hook যা functional component-এ state তৈরি ও update করার জন্য ব্যবহার করা হয়।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Returns একটি array → [state, setStateFunction]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setStateFunction দিয়ে state update করলে component re-render হয়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State update asynchronous ও batched হতে পারে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2"/>
          <p:cNvSpPr txBox="1">
            <a:spLocks noGrp="1"/>
          </p:cNvSpPr>
          <p:nvPr>
            <p:ph type="title" idx="4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useEffect কীভাবে কাজ করে?</a:t>
            </a:r>
            <a:endParaRPr sz="3000"/>
          </a:p>
        </p:txBody>
      </p:sp>
      <p:sp>
        <p:nvSpPr>
          <p:cNvPr id="257" name="Google Shape;257;p42"/>
          <p:cNvSpPr txBox="1"/>
          <p:nvPr/>
        </p:nvSpPr>
        <p:spPr>
          <a:xfrm>
            <a:off x="497850" y="1282000"/>
            <a:ext cx="7903200" cy="18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useEffect component render হওয়ার পরে execute হয় এবং এটি dependency array অনুযায়ী decide করে কখন run করবে। এটি side effects যেমন API call, event listener, timer ইত্যাদি manage করে।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How it works (Step by Step):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Component render হয়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 তারপর useEffect callback run করে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Dependency change হলে আবার effect run হয়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Cleanup function থাকলে React প্রথমে cleanup run করে তারপর effect আবার execute করে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3"/>
          <p:cNvSpPr txBox="1">
            <a:spLocks noGrp="1"/>
          </p:cNvSpPr>
          <p:nvPr>
            <p:ph type="title" idx="4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useRef কী?</a:t>
            </a:r>
            <a:endParaRPr sz="3000"/>
          </a:p>
        </p:txBody>
      </p:sp>
      <p:sp>
        <p:nvSpPr>
          <p:cNvPr id="263" name="Google Shape;263;p43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useRef হলো React Hook যা component-এর মধ্যে mutable reference তৈরি করতে ব্যবহার হয় এবং এটি update হলেও component re-render হয় না।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useRef returns একটি object → { current: value }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current value change করলে component re-render হয় না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DOM element access করতে বেশি ব্যবহৃত হয়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4"/>
          <p:cNvSpPr txBox="1">
            <a:spLocks noGrp="1"/>
          </p:cNvSpPr>
          <p:nvPr>
            <p:ph type="title" idx="4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useMemo কী?</a:t>
            </a:r>
            <a:endParaRPr sz="3000"/>
          </a:p>
        </p:txBody>
      </p:sp>
      <p:sp>
        <p:nvSpPr>
          <p:cNvPr id="269" name="Google Shape;269;p44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useMemo হলো React Hook যা expensive calculation এর result memoize করে রাখে, যাতে dependency change না হলে পুনরায় calculation না হয়।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Performance optimization এর জন্য ব্যবহৃত হয়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Only তখনই recompute হয় যখন dependency change হয়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Unnecessary re-render ও heavy calculation কমায়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5"/>
          <p:cNvSpPr txBox="1">
            <a:spLocks noGrp="1"/>
          </p:cNvSpPr>
          <p:nvPr>
            <p:ph type="title" idx="4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useCallback কী?</a:t>
            </a:r>
            <a:endParaRPr sz="3000"/>
          </a:p>
        </p:txBody>
      </p:sp>
      <p:sp>
        <p:nvSpPr>
          <p:cNvPr id="275" name="Google Shape;275;p45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useCallback হলো React Hook যা function reference কে memoize করে রাখে, যাতে unnecessary re-render বা re-creation of functions এড়ানো যায়।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Child component-এ function props পাঠালে re-render issue কমায়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Dependency change না হলে same function reference reuse হয়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Performance optimization এর জন্য ব্যবহার হয়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6"/>
          <p:cNvSpPr txBox="1">
            <a:spLocks noGrp="1"/>
          </p:cNvSpPr>
          <p:nvPr>
            <p:ph type="title" idx="4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Custom hook কী?</a:t>
            </a:r>
            <a:endParaRPr sz="3000"/>
          </a:p>
        </p:txBody>
      </p:sp>
      <p:sp>
        <p:nvSpPr>
          <p:cNvPr id="281" name="Google Shape;281;p46"/>
          <p:cNvSpPr txBox="1"/>
          <p:nvPr/>
        </p:nvSpPr>
        <p:spPr>
          <a:xfrm>
            <a:off x="497850" y="1282000"/>
            <a:ext cx="7903200" cy="144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Custom Hook হলো নিজের তৈরি React Hook যা common logic multiple components-এ reuse করার জন্য ব্যবহার করা হয়।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Must start with use keyword → e.g. useFetch, useAuth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Contains other hooks like useState, useEffect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Business logic separate করে clean code নিশ্চিত করে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7"/>
          <p:cNvSpPr txBox="1">
            <a:spLocks noGrp="1"/>
          </p:cNvSpPr>
          <p:nvPr>
            <p:ph type="title" idx="4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Hook rules কী?</a:t>
            </a:r>
            <a:endParaRPr sz="3000"/>
          </a:p>
        </p:txBody>
      </p:sp>
      <p:sp>
        <p:nvSpPr>
          <p:cNvPr id="287" name="Google Shape;287;p47"/>
          <p:cNvSpPr txBox="1"/>
          <p:nvPr/>
        </p:nvSpPr>
        <p:spPr>
          <a:xfrm>
            <a:off x="497850" y="1282000"/>
            <a:ext cx="7903200" cy="16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 Hooks ব্যবহার করার সময় দুইটি মূল rule follow করতে হয়।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Only call Hooks at the top level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Loop, condition বা nested function-এর ভিতরে Hook ব্যবহার করা যাবে না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Always component বা custom hook-এর top level-এ call করতে হবে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Only call Hooks from React functions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Hook শুধু React functional component বা Custom Hook-এর ভিতরেই call করা যাবে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Normal JS function বা class-এর ভিতরে নয়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8"/>
          <p:cNvSpPr txBox="1">
            <a:spLocks noGrp="1"/>
          </p:cNvSpPr>
          <p:nvPr>
            <p:ph type="title" idx="4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useReducer কী?</a:t>
            </a:r>
            <a:endParaRPr sz="3000"/>
          </a:p>
        </p:txBody>
      </p:sp>
      <p:sp>
        <p:nvSpPr>
          <p:cNvPr id="293" name="Google Shape;293;p48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useReducer হলো React Hook যা complex state logic handle করার জন্য ব্যবহার করা হয়, বিশেষ করে যখন multiple state transitions বা dependent updates থাকে। এটি Redux-এর reducer pattern অনুসরণ করে।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State update logic centralized থাকে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useState এর alternative যখন state logic complex হয়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Returns [state, dispatch]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9"/>
          <p:cNvSpPr txBox="1">
            <a:spLocks noGrp="1"/>
          </p:cNvSpPr>
          <p:nvPr>
            <p:ph type="title" idx="4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Re-render কখন হয়?</a:t>
            </a:r>
            <a:endParaRPr sz="3000"/>
          </a:p>
        </p:txBody>
      </p:sp>
      <p:sp>
        <p:nvSpPr>
          <p:cNvPr id="299" name="Google Shape;299;p49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 component তখন re-render হয় যখন তার state বা props পরিবর্তন হয়।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State change → useState বা this.setState() call করলে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Props change → parent থেকে child-এ নতুন props pass হলে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Parent re-render → child automatically re-render হতে পারে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 শুধু diffing algorithm ব্যবহার করে প্রয়োজনীয় DOM parts update করে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50"/>
          <p:cNvSpPr txBox="1">
            <a:spLocks noGrp="1"/>
          </p:cNvSpPr>
          <p:nvPr>
            <p:ph type="title" idx="4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React memo কী?</a:t>
            </a:r>
            <a:endParaRPr sz="3000"/>
          </a:p>
        </p:txBody>
      </p:sp>
      <p:sp>
        <p:nvSpPr>
          <p:cNvPr id="305" name="Google Shape;305;p50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React.memo হলো একটি higher-order component যা functional component-কে wrap করে, যাতে component শুধুমাত্র তার props change হলে re-render হয়। এটি performance optimization এর জন্য ব্যবহার হয়।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Functional component re-render কমায়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Props unchanged হলে previous render result reuse হয়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Similar to PureComponent for class components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1"/>
          <p:cNvSpPr txBox="1">
            <a:spLocks noGrp="1"/>
          </p:cNvSpPr>
          <p:nvPr>
            <p:ph type="title" idx="4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Key prop কেন দরকার?</a:t>
            </a:r>
            <a:endParaRPr sz="3000"/>
          </a:p>
        </p:txBody>
      </p:sp>
      <p:sp>
        <p:nvSpPr>
          <p:cNvPr id="311" name="Google Shape;311;p51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prop React-এ list rendering-এর সময় প্রতিটি element-কে uniquely identify করতে ব্যবহৃত হয়, যাতে Virtual DOM diffing process efficient হয়।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List items unique identification পায় → proper re-render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Without key → React re-renders whole list unnecessarily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should be unique and stable, index use only as last resort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52"/>
          <p:cNvSpPr txBox="1">
            <a:spLocks noGrp="1"/>
          </p:cNvSpPr>
          <p:nvPr>
            <p:ph type="title" idx="4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Index as key কেন bad practice?</a:t>
            </a:r>
            <a:endParaRPr sz="3000"/>
          </a:p>
        </p:txBody>
      </p:sp>
      <p:sp>
        <p:nvSpPr>
          <p:cNvPr id="317" name="Google Shape;317;p52"/>
          <p:cNvSpPr txBox="1"/>
          <p:nvPr/>
        </p:nvSpPr>
        <p:spPr>
          <a:xfrm>
            <a:off x="497850" y="1282000"/>
            <a:ext cx="7903200" cy="18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Index as key bad practice কারণ list change হলে React ভুল element update করতে পারে, যার ফলে UI bug ও performance issue তৈরি হয়।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Explanation: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 key দিয়ে list item identify করে।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Index ব্যবহার করলে item order change, delete বা insert হলে: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 ধরে নেয় element একই আছে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কিন্তু আসলে data change হয়ে যায় → wrong DOM reuse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53"/>
          <p:cNvSpPr txBox="1">
            <a:spLocks noGrp="1"/>
          </p:cNvSpPr>
          <p:nvPr>
            <p:ph type="title" idx="4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Conditional rendering কী?</a:t>
            </a:r>
            <a:endParaRPr sz="3000"/>
          </a:p>
        </p:txBody>
      </p:sp>
      <p:sp>
        <p:nvSpPr>
          <p:cNvPr id="323" name="Google Shape;323;p53"/>
          <p:cNvSpPr txBox="1"/>
          <p:nvPr/>
        </p:nvSpPr>
        <p:spPr>
          <a:xfrm>
            <a:off x="497850" y="1282000"/>
            <a:ext cx="7903200" cy="144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Conditional rendering হলো React-এ condition অনুযায়ী component বা JSX render করা। অর্থাৎ, নির্দিষ্ট condition true হলে এক ধরনের UI, false হলে অন্য ধরনের UI দেখানো।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JavaScript condition ব্যবহার করে JSX render করা হয়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UI dynamically change করা যায় user state অনুযায়ী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54"/>
          <p:cNvSpPr txBox="1">
            <a:spLocks noGrp="1"/>
          </p:cNvSpPr>
          <p:nvPr>
            <p:ph type="title" idx="4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Lazy loading in React</a:t>
            </a:r>
            <a:endParaRPr sz="3000"/>
          </a:p>
        </p:txBody>
      </p:sp>
      <p:sp>
        <p:nvSpPr>
          <p:cNvPr id="329" name="Google Shape;329;p54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Lazy loading হলো technique যেখানে component বা module তখনই load হয় যখন সেটার প্রয়োজন হয় — initial bundle size কমে এবং app fast load হয়।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React.lazy() দিয়ে component dynamically import করা হয়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Suspense fallback UI দেখানোর জন্য ব্যবহৃত হয়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Improves performance &amp; reduces initial load time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5"/>
          <p:cNvSpPr txBox="1">
            <a:spLocks noGrp="1"/>
          </p:cNvSpPr>
          <p:nvPr>
            <p:ph type="title" idx="4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Code splitting কী?</a:t>
            </a:r>
            <a:endParaRPr sz="3000"/>
          </a:p>
        </p:txBody>
      </p:sp>
      <p:sp>
        <p:nvSpPr>
          <p:cNvPr id="335" name="Google Shape;335;p55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Code splitting হলো technique যেখানে large JavaScript bundle কে ছোট ছোট chunks-এ ভাগ করা হয়, যাতে প্রয়োজন অনুযায়ী code load হয় এবং initial load time কমে।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Improves page load speed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Unused code initially load হয় না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React.lazy + dynamic import ব্যবহার করে করা হয়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56"/>
          <p:cNvSpPr txBox="1">
            <a:spLocks noGrp="1"/>
          </p:cNvSpPr>
          <p:nvPr>
            <p:ph type="title" idx="4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React.Fragment কী?</a:t>
            </a:r>
            <a:endParaRPr sz="3000"/>
          </a:p>
        </p:txBody>
      </p:sp>
      <p:sp>
        <p:nvSpPr>
          <p:cNvPr id="341" name="Google Shape;341;p56"/>
          <p:cNvSpPr txBox="1"/>
          <p:nvPr/>
        </p:nvSpPr>
        <p:spPr>
          <a:xfrm>
            <a:off x="497850" y="1282000"/>
            <a:ext cx="7903200" cy="144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React.Fragment ব্যবহার করা হয় multiple JSX elements wrap করার জন্য, কিন্তু DOM-এ extra node না যোগ করে।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DOM-এ কোনো অতিরিক্ত &lt;div&gt; তৈরি করে না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Clean HTML structure বজায় রাখে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Shorthand syntax: &lt;&gt; ... &lt;/&gt;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57"/>
          <p:cNvSpPr txBox="1">
            <a:spLocks noGrp="1"/>
          </p:cNvSpPr>
          <p:nvPr>
            <p:ph type="title" idx="4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StrictMode কী?</a:t>
            </a:r>
            <a:endParaRPr sz="3000"/>
          </a:p>
        </p:txBody>
      </p:sp>
      <p:sp>
        <p:nvSpPr>
          <p:cNvPr id="347" name="Google Shape;347;p57"/>
          <p:cNvSpPr txBox="1"/>
          <p:nvPr/>
        </p:nvSpPr>
        <p:spPr>
          <a:xfrm>
            <a:off x="497850" y="1282000"/>
            <a:ext cx="7903200" cy="18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React.StrictMode হলো একটি development-only tool যা React app-এ potential problems ও bad practices detect করতে সাহায্য করে। এটি production build-এ কোনো effect ফেলে না।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Deprecated lifecycle methods warn করে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Unsafe side effects detect করে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Component render দুইবার call করে (development only)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Helps write future-proof code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58"/>
          <p:cNvSpPr txBox="1">
            <a:spLocks noGrp="1"/>
          </p:cNvSpPr>
          <p:nvPr>
            <p:ph type="title" idx="4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Hydration কী?</a:t>
            </a:r>
            <a:endParaRPr sz="3000"/>
          </a:p>
        </p:txBody>
      </p:sp>
      <p:sp>
        <p:nvSpPr>
          <p:cNvPr id="353" name="Google Shape;353;p58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Hydration হলো Server-Side Rendering (SSR) এর পরে browser-এ already rendered HTML-এর সাথে React event listeners ও state attach করার process।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Server HTML পাঠায় → fast first paint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Browser সেই HTML-কে React interactive করে তোলে → hydration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Without hydration → page static থাকবে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59"/>
          <p:cNvSpPr txBox="1">
            <a:spLocks noGrp="1"/>
          </p:cNvSpPr>
          <p:nvPr>
            <p:ph type="title" idx="4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Controlled form কী?</a:t>
            </a:r>
            <a:endParaRPr sz="3000"/>
          </a:p>
        </p:txBody>
      </p:sp>
      <p:sp>
        <p:nvSpPr>
          <p:cNvPr id="359" name="Google Shape;359;p59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Controlled form হলো এমন React form যেখানে input value React state দিয়ে manage করা হয়। অর্থাৎ form element-এর value component state-এর সাথে bind থাকে।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Input value value prop দিয়ে state control হয়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onChange handler দিয়ে state update করা হয়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Predictable &amp; validation সহজ হয়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60"/>
          <p:cNvSpPr txBox="1">
            <a:spLocks noGrp="1"/>
          </p:cNvSpPr>
          <p:nvPr>
            <p:ph type="title" idx="4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onChange কীভাবে কাজ করে?</a:t>
            </a:r>
            <a:endParaRPr sz="3000"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3000"/>
          </a:p>
        </p:txBody>
      </p:sp>
      <p:sp>
        <p:nvSpPr>
          <p:cNvPr id="365" name="Google Shape;365;p60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onChange হলো React event handler যা form input বা textarea-এর value change হওয়ার সময় trigger হয় এবং সাধারণত state update করার জন্য ব্যবহার করা হয়।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Input value React state-এর সাথে bind করা হয়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User input পরিবর্তনের সাথে সাথে function execute হয়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Controlled components-এ ব্যবহার করা হয়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61"/>
          <p:cNvSpPr txBox="1">
            <a:spLocks noGrp="1"/>
          </p:cNvSpPr>
          <p:nvPr>
            <p:ph type="title" idx="4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Form validation কীভাবে করো?</a:t>
            </a:r>
            <a:endParaRPr sz="3000"/>
          </a:p>
        </p:txBody>
      </p:sp>
      <p:sp>
        <p:nvSpPr>
          <p:cNvPr id="371" name="Google Shape;371;p61"/>
          <p:cNvSpPr txBox="1"/>
          <p:nvPr/>
        </p:nvSpPr>
        <p:spPr>
          <a:xfrm>
            <a:off x="497850" y="1282000"/>
            <a:ext cx="7903200" cy="18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React-এ form validation করা যায় input value check করে এবং state বা error message update করে, যাতে user invalid data submit না করতে পারে।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Controlled component ব্যবহার করে input values state-এ রাখা হয়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Validation logic onChange বা onSubmit এ implement করা হয়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Error messages dynamically show করা যায়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Libraries যেমন Formik বা React Hook Form ব্যবহার করা যায়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62"/>
          <p:cNvSpPr txBox="1">
            <a:spLocks noGrp="1"/>
          </p:cNvSpPr>
          <p:nvPr>
            <p:ph type="title" idx="4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Synthetic event কী?</a:t>
            </a:r>
            <a:endParaRPr sz="3000"/>
          </a:p>
        </p:txBody>
      </p:sp>
      <p:sp>
        <p:nvSpPr>
          <p:cNvPr id="377" name="Google Shape;377;p62"/>
          <p:cNvSpPr txBox="1"/>
          <p:nvPr/>
        </p:nvSpPr>
        <p:spPr>
          <a:xfrm>
            <a:off x="497850" y="1282000"/>
            <a:ext cx="7903200" cy="18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Synthetic Event হলো React-এর wrapper যা browser-এর native events-এর উপর ভিত্তি করে তৈরি, এবং এটি cross-browser compatibility ও performance optimization দেয়।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All React events are Synthetic Events → e.g., onClick, onChange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Works identically across all browsers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Provides consistent API → e.preventDefault(), e.stopPropagation()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Automatically pooled for performance (event object reused)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63"/>
          <p:cNvSpPr txBox="1">
            <a:spLocks noGrp="1"/>
          </p:cNvSpPr>
          <p:nvPr>
            <p:ph type="title" idx="4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Event handling in React</a:t>
            </a:r>
            <a:endParaRPr sz="3000"/>
          </a:p>
        </p:txBody>
      </p:sp>
      <p:sp>
        <p:nvSpPr>
          <p:cNvPr id="383" name="Google Shape;383;p63"/>
          <p:cNvSpPr txBox="1"/>
          <p:nvPr/>
        </p:nvSpPr>
        <p:spPr>
          <a:xfrm>
            <a:off x="497850" y="1282000"/>
            <a:ext cx="7903200" cy="18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React-এ event handling হলো user actions (click, change, submit ইত্যাদি) manage করার process, যেখানে events JSX-এ function pass করে handle করা হয়।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Event names camelCase use করা হয় → onClick, onChange, onSubmit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Event handler function JSX-এ pass করা হয় → {handleClick}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Synthetic Events ব্যবহার হয় → cross-browser support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Inline function, method, বা arrow function সবই use করা যায়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64"/>
          <p:cNvSpPr txBox="1">
            <a:spLocks noGrp="1"/>
          </p:cNvSpPr>
          <p:nvPr>
            <p:ph type="title" idx="4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preventDefault ব্যবহার কেন?</a:t>
            </a:r>
            <a:endParaRPr sz="3000"/>
          </a:p>
        </p:txBody>
      </p:sp>
      <p:sp>
        <p:nvSpPr>
          <p:cNvPr id="389" name="Google Shape;389;p64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preventDefault() ব্যবহার করা হয় browser-এর default behavior prevent করার জন্য, যাতে React-এ custom behavior handle করা যায়।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Commonly form submit, link click, scroll, context menu events এ ব্যবহার হয়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Prevents full page reload on form submission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Allows React to handle events programmatically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65"/>
          <p:cNvSpPr txBox="1">
            <a:spLocks noGrp="1"/>
          </p:cNvSpPr>
          <p:nvPr>
            <p:ph type="title" idx="4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Two-way binding কী?</a:t>
            </a:r>
            <a:endParaRPr sz="3000"/>
          </a:p>
        </p:txBody>
      </p:sp>
      <p:sp>
        <p:nvSpPr>
          <p:cNvPr id="395" name="Google Shape;395;p65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Two-way binding হলো এমন process যেখানে UI element এবং component state একে অপরের সাথে sync থাকে — state change হলে UI update হয় এবং UI change হলে state update হয়।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React-এ two-way binding mainly form inputs-এ হয়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Controlled component ব্যবহার করে achieve করা হয়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State ও UI একে অপরের সাথে always synchronized থাকে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66"/>
          <p:cNvSpPr txBox="1">
            <a:spLocks noGrp="1"/>
          </p:cNvSpPr>
          <p:nvPr>
            <p:ph type="title" idx="4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Checkbox handle কীভাবে করো?</a:t>
            </a:r>
            <a:endParaRPr sz="3000"/>
          </a:p>
        </p:txBody>
      </p:sp>
      <p:sp>
        <p:nvSpPr>
          <p:cNvPr id="401" name="Google Shape;401;p66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React-এ checkbox handle করার জন্য controlled component ব্যবহার করা হয়, যেখানে checkbox-এর checked value state দ্বারা control হয় এবং onChange event দিয়ে update করা হয়।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Checkbox value boolean → checked prop use হয়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onChange event update করে state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Multiple checkboxes handle করতে array of values use করা যায়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67"/>
          <p:cNvSpPr txBox="1">
            <a:spLocks noGrp="1"/>
          </p:cNvSpPr>
          <p:nvPr>
            <p:ph type="title" idx="4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File upload কীভাবে করো?</a:t>
            </a:r>
            <a:endParaRPr sz="3000"/>
          </a:p>
        </p:txBody>
      </p:sp>
      <p:sp>
        <p:nvSpPr>
          <p:cNvPr id="407" name="Google Shape;407;p67"/>
          <p:cNvSpPr txBox="1"/>
          <p:nvPr/>
        </p:nvSpPr>
        <p:spPr>
          <a:xfrm>
            <a:off x="497850" y="1282000"/>
            <a:ext cx="7903200" cy="18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React-এ file upload করতে input element-এর type="file" use করা হয় এবং onChange event দিয়ে file capture করে state বা FormData-এর মাধ্যমে server-এ পাঠানো হয়।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Input type must be file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e.target.files থেকে file access করা হয়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FormData ব্যবহার করে backend-এ send করা যায়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Controlled component দিয়ে preview করা যায়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68"/>
          <p:cNvSpPr txBox="1">
            <a:spLocks noGrp="1"/>
          </p:cNvSpPr>
          <p:nvPr>
            <p:ph type="title" idx="4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Multiple input handle করার pattern</a:t>
            </a:r>
            <a:endParaRPr sz="3000"/>
          </a:p>
        </p:txBody>
      </p:sp>
      <p:sp>
        <p:nvSpPr>
          <p:cNvPr id="413" name="Google Shape;413;p68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React-এ multiple input field handle করার জন্য controlled components pattern use করা হয়, যেখানে সব input values একটি state object-এ রাখা হয় এবং onChange event generic handler দিয়ে update করা হয়।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Single onChange handler for all inputs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Input name attribute use করে state key identify করা হয়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State object dynamically update করা হয়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69"/>
          <p:cNvSpPr txBox="1">
            <a:spLocks noGrp="1"/>
          </p:cNvSpPr>
          <p:nvPr>
            <p:ph type="title" idx="4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React Router কী?</a:t>
            </a:r>
            <a:endParaRPr sz="3000"/>
          </a:p>
        </p:txBody>
      </p:sp>
      <p:sp>
        <p:nvSpPr>
          <p:cNvPr id="419" name="Google Shape;419;p69"/>
          <p:cNvSpPr txBox="1"/>
          <p:nvPr/>
        </p:nvSpPr>
        <p:spPr>
          <a:xfrm>
            <a:off x="497850" y="1282000"/>
            <a:ext cx="7903200" cy="18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 Router হলো একটি library যা React application-এ client-side routing enable করে, অর্থাৎ page reload ছাড়া different components বা views navigate করা যায়।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Single Page Application (SPA) behavior support করে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URL change হলে React app re-render হয় না, শুধুমাত্র matching component render হয়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react-router-dom package commonly used for web apps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Provides components like &lt;BrowserRouter&gt;, &lt;Routes&gt;, &lt;Route&gt;, &lt;Link&gt;, &lt;Navigate&gt;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70"/>
          <p:cNvSpPr txBox="1">
            <a:spLocks noGrp="1"/>
          </p:cNvSpPr>
          <p:nvPr>
            <p:ph type="title" idx="4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useParams কী?</a:t>
            </a:r>
            <a:endParaRPr sz="3000"/>
          </a:p>
        </p:txBody>
      </p:sp>
      <p:sp>
        <p:nvSpPr>
          <p:cNvPr id="425" name="Google Shape;425;p70"/>
          <p:cNvSpPr txBox="1"/>
          <p:nvPr/>
        </p:nvSpPr>
        <p:spPr>
          <a:xfrm>
            <a:off x="497850" y="1282000"/>
            <a:ext cx="7903200" cy="144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useParams হলো React Router Hook যা URL path-এর dynamic parameters access করতে ব্যবহার হয়।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Functional components-এ route parameters read করার জন্য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Returns an object containing all URL params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Often used for dynamic routes like /user/:id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71"/>
          <p:cNvSpPr txBox="1">
            <a:spLocks noGrp="1"/>
          </p:cNvSpPr>
          <p:nvPr>
            <p:ph type="title" idx="4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useNavigate কী?</a:t>
            </a:r>
            <a:endParaRPr sz="3000"/>
          </a:p>
        </p:txBody>
      </p:sp>
      <p:sp>
        <p:nvSpPr>
          <p:cNvPr id="431" name="Google Shape;431;p71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useNavigate হলো React Router Hook যা programmatically route change করতে ব্যবহার হয়, অর্থাৎ user action বা logic অনুযায়ী navigation করা যায়।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Functional component-এ route change করতে ব্যবহার হয়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Similar to history.push in older versions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Can navigate forward, backward, or replace current route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72"/>
          <p:cNvSpPr txBox="1">
            <a:spLocks noGrp="1"/>
          </p:cNvSpPr>
          <p:nvPr>
            <p:ph type="title" idx="4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Protected route কী?</a:t>
            </a:r>
            <a:endParaRPr sz="3000"/>
          </a:p>
        </p:txBody>
      </p:sp>
      <p:sp>
        <p:nvSpPr>
          <p:cNvPr id="437" name="Google Shape;437;p72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Protected Route হলো এমন route যা শুধুমাত্র authenticated users access করতে পারে; unauthorized users অন্য page বা login page-এ redirect করা হয়।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User authentication বা role check করে route access control করা হয়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 Router-এ custom component wrapper তৈরি করা হয়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Security ও UX উভয় improve করে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73"/>
          <p:cNvSpPr txBox="1">
            <a:spLocks noGrp="1"/>
          </p:cNvSpPr>
          <p:nvPr>
            <p:ph type="title" idx="4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Nested routing</a:t>
            </a:r>
            <a:endParaRPr sz="3000"/>
          </a:p>
        </p:txBody>
      </p:sp>
      <p:sp>
        <p:nvSpPr>
          <p:cNvPr id="443" name="Google Shape;443;p73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Nested routing হলো React Router-এ একটি route-এর ভিতরে অন্য route define করা, যাতে hierarchical বা multi-level UI structure create করা যায়।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Parent route render করে child route placeholder → &lt;Outlet /&gt;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Allows multi-level components structure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Clean URL structure &amp; component separation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74"/>
          <p:cNvSpPr txBox="1">
            <a:spLocks noGrp="1"/>
          </p:cNvSpPr>
          <p:nvPr>
            <p:ph type="title" idx="4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Dynamic routing</a:t>
            </a:r>
            <a:endParaRPr sz="3000"/>
          </a:p>
        </p:txBody>
      </p:sp>
      <p:sp>
        <p:nvSpPr>
          <p:cNvPr id="449" name="Google Shape;449;p74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Dynamic routing হলো route structure run-time এ create করা বা route parameters ব্যবহার করে component render করা, অর্থাৎ URLs runtime data অনুযায়ী decide হয়।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Route parameters দিয়ে dynamic content load করা যায় → /user/:id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useParams ব্যবহার করে parameter access করা হয়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Useful for user profiles, product pages, blogs ইত্যাদি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75"/>
          <p:cNvSpPr txBox="1">
            <a:spLocks noGrp="1"/>
          </p:cNvSpPr>
          <p:nvPr>
            <p:ph type="title" idx="4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NavLink কী?</a:t>
            </a:r>
            <a:endParaRPr sz="3000"/>
          </a:p>
        </p:txBody>
      </p:sp>
      <p:sp>
        <p:nvSpPr>
          <p:cNvPr id="455" name="Google Shape;455;p75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NavLink হলো React Router component যা navigation link তৈরি করে এবং automatically active class বা styling apply করে যখন link-এর path current URL-এর সাথে match করে।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NavLink is similar to Link but adds active styling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className বা style function ব্যবহার করে active state customize করা যায়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Useful for navigation menus highlighting current page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76"/>
          <p:cNvSpPr txBox="1">
            <a:spLocks noGrp="1"/>
          </p:cNvSpPr>
          <p:nvPr>
            <p:ph type="title" idx="4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404 route কীভাবে handle করো?</a:t>
            </a:r>
            <a:endParaRPr sz="3000"/>
          </a:p>
        </p:txBody>
      </p:sp>
      <p:sp>
        <p:nvSpPr>
          <p:cNvPr id="461" name="Google Shape;461;p76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404 route হলো এমন route যা তখন render হয় যখন user যে URL access করে তা কোনো existing route-এর সাথে match করে না। React Router-এ এটা catch-all route দিয়ে handle করা হয়।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Always last route হিসেবে define করা উচিত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path="*" use করা হয় unmatched URLs handle করার জন্য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User-friendly “Page Not Found” message দেখানো হয়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77"/>
          <p:cNvSpPr txBox="1">
            <a:spLocks noGrp="1"/>
          </p:cNvSpPr>
          <p:nvPr>
            <p:ph type="title" idx="4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Lifting state up কী?</a:t>
            </a:r>
            <a:endParaRPr sz="3000"/>
          </a:p>
        </p:txBody>
      </p:sp>
      <p:sp>
        <p:nvSpPr>
          <p:cNvPr id="467" name="Google Shape;467;p77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Lifting state up হলো process যেখানে shared state parent component-এ move করা হয়, যাতে multiple child components একই state access ও update করতে পারে।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দুই বা ততোধিক child components-এর মধ্যে data share করতে use হয়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Parent state pass হয় props-এর মাধ্যমে child-এ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Child থেকে state update করতে parent-এ function pass করা হয়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78"/>
          <p:cNvSpPr txBox="1">
            <a:spLocks noGrp="1"/>
          </p:cNvSpPr>
          <p:nvPr>
            <p:ph type="title" idx="4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Context API কী?</a:t>
            </a:r>
            <a:endParaRPr sz="3000"/>
          </a:p>
        </p:txBody>
      </p:sp>
      <p:sp>
        <p:nvSpPr>
          <p:cNvPr id="473" name="Google Shape;473;p78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Context API হলো React-এর built-in feature যা component tree-এর মধ্যে props drilling ছাড়াই global state বা data share করতে সাহায্য করে।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Shared data provide করার জন্য – theme, auth, language, etc.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Avoids passing props through multiple intermediate components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Uses React.createContext(), &lt;Provider&gt; এবং useContext()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79"/>
          <p:cNvSpPr txBox="1">
            <a:spLocks noGrp="1"/>
          </p:cNvSpPr>
          <p:nvPr>
            <p:ph type="title" idx="4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Context vs Redux</a:t>
            </a:r>
            <a:endParaRPr sz="3000"/>
          </a:p>
        </p:txBody>
      </p:sp>
      <p:sp>
        <p:nvSpPr>
          <p:cNvPr id="479" name="Google Shape;479;p79"/>
          <p:cNvSpPr txBox="1"/>
          <p:nvPr/>
        </p:nvSpPr>
        <p:spPr>
          <a:xfrm>
            <a:off x="497850" y="1282000"/>
            <a:ext cx="7903200" cy="32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Context API এবং Redux দুইটাই state management এর জন্য ব্যবহৃত হয়, কিন্তু purpose ও scale ভিন্ন।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Context API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Lightweight, built-in React feature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Mainly small-to-medium apps বা theme, auth, language type global state এর জন্য ভালো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Simple state management এবং props drilling avoid করতে use হয়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No middleware, basic state update logic only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Redux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External library, scalable for large apps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Centralized store, predictable state management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Middleware support (Redux Thunk, Saga) → async operations manage করা যায়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Suitable for complex apps with multiple modules and shared state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80"/>
          <p:cNvSpPr txBox="1">
            <a:spLocks noGrp="1"/>
          </p:cNvSpPr>
          <p:nvPr>
            <p:ph type="title" idx="4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Redux কী?</a:t>
            </a:r>
            <a:endParaRPr sz="3000"/>
          </a:p>
        </p:txBody>
      </p:sp>
      <p:sp>
        <p:nvSpPr>
          <p:cNvPr id="485" name="Google Shape;485;p80"/>
          <p:cNvSpPr txBox="1"/>
          <p:nvPr/>
        </p:nvSpPr>
        <p:spPr>
          <a:xfrm>
            <a:off x="497850" y="1282000"/>
            <a:ext cx="7903200" cy="18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Redux হলো একটি predictable state management library যা React বা অন্য JavaScript apps-এ centralized state store provide করে।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Single source of truth → সব state এক জায়গায় থাকে (store)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State is read-only → শুধু actions dispatch করে update করা যায়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Pure functions (reducers) handle state updates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Helps manage complex &amp; large-scale application state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81"/>
          <p:cNvSpPr txBox="1">
            <a:spLocks noGrp="1"/>
          </p:cNvSpPr>
          <p:nvPr>
            <p:ph type="title" idx="4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Redux flow explain</a:t>
            </a:r>
            <a:endParaRPr sz="3000"/>
          </a:p>
        </p:txBody>
      </p:sp>
      <p:sp>
        <p:nvSpPr>
          <p:cNvPr id="491" name="Google Shape;491;p81"/>
          <p:cNvSpPr txBox="1"/>
          <p:nvPr/>
        </p:nvSpPr>
        <p:spPr>
          <a:xfrm>
            <a:off x="497850" y="1282000"/>
            <a:ext cx="7903200" cy="30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Redux-এর flow হলো একটিমাত্র centralized state (store) থেকে data manage করার structured pattern, যাতে state predictable ও maintainable থাকে।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Step-by-Step Flow: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Store:Single source of truth,Holds the entire app state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Action: Plain JavaScript object describing what happened, Must have a type property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Dispatch: Function used to send action to the store, Triggers state update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Reducer: Pure function: (state, action) =&gt; newState, Calculates new state based on current state and action, Returns updated state without mutating previous state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State Update &amp; Subscriber: Store updates state via reducer,  Components subscribed to store get new state → UI re-render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82"/>
          <p:cNvSpPr txBox="1">
            <a:spLocks noGrp="1"/>
          </p:cNvSpPr>
          <p:nvPr>
            <p:ph type="title" idx="4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Action কী?</a:t>
            </a:r>
            <a:endParaRPr sz="3000"/>
          </a:p>
        </p:txBody>
      </p:sp>
      <p:sp>
        <p:nvSpPr>
          <p:cNvPr id="497" name="Google Shape;497;p82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Action হলো একটি plain JavaScript object যা state-এ কী পরিবর্তন ঘটবে তা describe করে। এটি state update করার trigger।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Must have a type property (string) → describes the action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Can have optional payload → extra data needed for update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Dispatched to store → handled by reducer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83"/>
          <p:cNvSpPr txBox="1">
            <a:spLocks noGrp="1"/>
          </p:cNvSpPr>
          <p:nvPr>
            <p:ph type="title" idx="4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Reducer কী?</a:t>
            </a:r>
            <a:endParaRPr sz="3000"/>
          </a:p>
        </p:txBody>
      </p:sp>
      <p:sp>
        <p:nvSpPr>
          <p:cNvPr id="503" name="Google Shape;503;p83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Reducer হলো একটি pure function যা Redux store-এর state এবং dispatched action অনুযায়ী নতুন state return করে।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Pure function → side-effects নেই, same input → same output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Accepts state and action as arguments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Returns new state (never mutate old state)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Determines how state changes in response to an action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84"/>
          <p:cNvSpPr txBox="1">
            <a:spLocks noGrp="1"/>
          </p:cNvSpPr>
          <p:nvPr>
            <p:ph type="title" idx="4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Store কী?</a:t>
            </a:r>
            <a:endParaRPr sz="3000"/>
          </a:p>
        </p:txBody>
      </p:sp>
      <p:sp>
        <p:nvSpPr>
          <p:cNvPr id="509" name="Google Shape;509;p84"/>
          <p:cNvSpPr txBox="1"/>
          <p:nvPr/>
        </p:nvSpPr>
        <p:spPr>
          <a:xfrm>
            <a:off x="497850" y="1282000"/>
            <a:ext cx="7903200" cy="22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Store হলো centralized object যা পুরো application state ধরে রাখে এবং state access, update এবং subscription manage করার জন্য ব্যবহৃত হয়।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Single source of truth → সব state এক জায়গায় থাকে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Provides methods: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getState() → current state access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dispatch(action) → action trigger করে state update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subscribe(listener) → state change হলে callback run হয়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State update শুধু dispatch + reducer route-এর মাধ্যমে হয়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85"/>
          <p:cNvSpPr txBox="1">
            <a:spLocks noGrp="1"/>
          </p:cNvSpPr>
          <p:nvPr>
            <p:ph type="title" idx="4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Middleware কী?</a:t>
            </a:r>
            <a:endParaRPr sz="3000"/>
          </a:p>
        </p:txBody>
      </p:sp>
      <p:sp>
        <p:nvSpPr>
          <p:cNvPr id="515" name="Google Shape;515;p85"/>
          <p:cNvSpPr txBox="1"/>
          <p:nvPr/>
        </p:nvSpPr>
        <p:spPr>
          <a:xfrm>
            <a:off x="497850" y="1282000"/>
            <a:ext cx="7903200" cy="22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Middleware হলো function যা Redux-এর dispatch process-এর মধ্যে execute হয় এবং action process হওয়ার আগে বা পরে custom logic add করার সুযোগ দেয়।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Intercepts actions before they reach the reducer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Useful for: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Logging (redux-logger)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Async operations (redux-thunk, redux-saga)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Analytics, error reporting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Enhances store without changing core reducer logic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86"/>
          <p:cNvSpPr txBox="1">
            <a:spLocks noGrp="1"/>
          </p:cNvSpPr>
          <p:nvPr>
            <p:ph type="title" idx="4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API call কোথায় করো?</a:t>
            </a:r>
            <a:endParaRPr sz="3000"/>
          </a:p>
        </p:txBody>
      </p:sp>
      <p:sp>
        <p:nvSpPr>
          <p:cNvPr id="521" name="Google Shape;521;p86"/>
          <p:cNvSpPr txBox="1"/>
          <p:nvPr/>
        </p:nvSpPr>
        <p:spPr>
          <a:xfrm>
            <a:off x="497850" y="1282000"/>
            <a:ext cx="7903200" cy="18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React-এ API call করা হয় component lifecycle বা side-effect context-এ, সাধারণত useEffect hook-এর ভিতরে, যাতে data fetch করা যায় component render হওয়ার পরে।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Functional components → useEffect hook use করা হয়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Class components → componentDidMount lifecycle method use করা হয়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Async call করে state update করা হয় → UI automatically re-render হয়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Avoid calling API directly inside render function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87"/>
          <p:cNvSpPr txBox="1">
            <a:spLocks noGrp="1"/>
          </p:cNvSpPr>
          <p:nvPr>
            <p:ph type="title" idx="4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Axios vs fetch</a:t>
            </a:r>
            <a:endParaRPr sz="3000"/>
          </a:p>
        </p:txBody>
      </p:sp>
      <p:sp>
        <p:nvSpPr>
          <p:cNvPr id="527" name="Google Shape;527;p87"/>
          <p:cNvSpPr txBox="1"/>
          <p:nvPr/>
        </p:nvSpPr>
        <p:spPr>
          <a:xfrm>
            <a:off x="497850" y="1282000"/>
            <a:ext cx="7903200" cy="34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Axios এবং Fetch উভয়ই HTTP requests করার জন্য ব্যবহৃত হয়, কিন্তু তাদের মধ্যে কিছু key differences আছে।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Fetch API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Built-in browser API → no installation needed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Returns Promise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Needs manual conversion of response → .json()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Error handling: only network errors trigger catch, HTTP errors (404, 500) need manual check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Axios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External library → install via npm (npm install axios)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Returns response data directly (res.data)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Automatically converts JSON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Handles HTTP errors automatically → triggers catch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Supports features: request/response interceptors, timeout, cancel request, client-side protection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88"/>
          <p:cNvSpPr txBox="1">
            <a:spLocks noGrp="1"/>
          </p:cNvSpPr>
          <p:nvPr>
            <p:ph type="title" idx="4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Loading state কীভাবে handle করো?</a:t>
            </a:r>
            <a:endParaRPr sz="3000"/>
          </a:p>
        </p:txBody>
      </p:sp>
      <p:sp>
        <p:nvSpPr>
          <p:cNvPr id="533" name="Google Shape;533;p88"/>
          <p:cNvSpPr txBox="1"/>
          <p:nvPr/>
        </p:nvSpPr>
        <p:spPr>
          <a:xfrm>
            <a:off x="497850" y="1282000"/>
            <a:ext cx="7903200" cy="18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React-এ loading state ব্যবহার করা হয় যখন API call বা asynchronous operation চলছে, যাতে user-কে UI-এ loading indicator দেখানো যায় এবং proper feedback দেওয়া যায়।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 State variable declare করা হয় → isLoading বা loading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API call শুরু হওয়ার আগে loading = true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API response আসার পরে loading = false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Conditional rendering দিয়ে spinner বা message show করা যায়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89"/>
          <p:cNvSpPr txBox="1">
            <a:spLocks noGrp="1"/>
          </p:cNvSpPr>
          <p:nvPr>
            <p:ph type="title" idx="4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Error handling কীভাবে করো?</a:t>
            </a:r>
            <a:endParaRPr sz="3000"/>
          </a:p>
        </p:txBody>
      </p:sp>
      <p:sp>
        <p:nvSpPr>
          <p:cNvPr id="539" name="Google Shape;539;p89"/>
          <p:cNvSpPr txBox="1"/>
          <p:nvPr/>
        </p:nvSpPr>
        <p:spPr>
          <a:xfrm>
            <a:off x="497850" y="1282000"/>
            <a:ext cx="7903200" cy="18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React-এ error handle করা হয় asynchronous operations বা component rendering-এর সময়, যাতে user-friendly message দেখানো যায় এবং app crash না হয়।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Async operations (API calls) → try-catch বা .catch() use করা হয়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State variable declare করা হয় → error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Conditional rendering দিয়ে error message display করা হয়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Optional: Error Boundaries use করে component-level runtime errors catch করা যায়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90"/>
          <p:cNvSpPr txBox="1">
            <a:spLocks noGrp="1"/>
          </p:cNvSpPr>
          <p:nvPr>
            <p:ph type="title" idx="4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Error handling কীভাবে করো?</a:t>
            </a:r>
            <a:endParaRPr sz="3000"/>
          </a:p>
        </p:txBody>
      </p:sp>
      <p:sp>
        <p:nvSpPr>
          <p:cNvPr id="545" name="Google Shape;545;p90"/>
          <p:cNvSpPr txBox="1"/>
          <p:nvPr/>
        </p:nvSpPr>
        <p:spPr>
          <a:xfrm>
            <a:off x="497850" y="1282000"/>
            <a:ext cx="7903200" cy="18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React-এ error handle করা হয় asynchronous operations বা component rendering-এর সময়, যাতে user-friendly message দেখানো যায় এবং app crash না হয়।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Async operations (API calls) → try-catch বা .catch() use করা হয়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State variable declare করা হয় → error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Conditional rendering দিয়ে error message display করা হয়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Optional: Error Boundaries use করে component-level runtime errors catch করা যায়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91"/>
          <p:cNvSpPr txBox="1">
            <a:spLocks noGrp="1"/>
          </p:cNvSpPr>
          <p:nvPr>
            <p:ph type="title" idx="4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useEffect with API</a:t>
            </a:r>
            <a:endParaRPr sz="3000"/>
          </a:p>
        </p:txBody>
      </p:sp>
      <p:sp>
        <p:nvSpPr>
          <p:cNvPr id="551" name="Google Shape;551;p91"/>
          <p:cNvSpPr txBox="1"/>
          <p:nvPr/>
        </p:nvSpPr>
        <p:spPr>
          <a:xfrm>
            <a:off x="497850" y="1282000"/>
            <a:ext cx="7903200" cy="18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React-এ useEffect ব্যবহার করা হয় component mount হওয়ার পরে API call করতে, যাতে asynchronous data fetch করে state update করা যায়।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useEffect runs after the first render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Empty dependency array [] → ensures API call runs once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State variables manage data, loading, error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Optional cleanup function for aborting fetch or cancelling subscriptions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92"/>
          <p:cNvSpPr txBox="1">
            <a:spLocks noGrp="1"/>
          </p:cNvSpPr>
          <p:nvPr>
            <p:ph type="title" idx="4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Debounce in React</a:t>
            </a:r>
            <a:endParaRPr sz="3000"/>
          </a:p>
        </p:txBody>
      </p:sp>
      <p:sp>
        <p:nvSpPr>
          <p:cNvPr id="557" name="Google Shape;557;p92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Debounce হলো technique যা rapid-fire events (যেমন typing, scrolling) handle করার সময় function execution delay করে, যাতে performance improve হয় এবং unnecessary state updates বা API calls avoid করা যায়।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Commonly used with input search, resize, scroll events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Function only executes after a specified delay of inactivity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Prevents excessive re-renders or API calls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93"/>
          <p:cNvSpPr txBox="1">
            <a:spLocks noGrp="1"/>
          </p:cNvSpPr>
          <p:nvPr>
            <p:ph type="title" idx="4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Throttle in React</a:t>
            </a:r>
            <a:endParaRPr sz="3000"/>
          </a:p>
        </p:txBody>
      </p:sp>
      <p:sp>
        <p:nvSpPr>
          <p:cNvPr id="563" name="Google Shape;563;p93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Throttle হলো technique যা rapid-fire events (যেমন scroll, resize, mousemove) handle করার সময় function execution একটি fixed interval-এ সীমাবদ্ধ করে, যাতে performance improve হয় এবং function খুব frequent call না হয়।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Function executes at most once every specified interval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Useful for scroll, resize, mousemove, or button clicks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Prevents performance issues caused by too many event triggers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94"/>
          <p:cNvSpPr txBox="1">
            <a:spLocks noGrp="1"/>
          </p:cNvSpPr>
          <p:nvPr>
            <p:ph type="title" idx="4"/>
          </p:nvPr>
        </p:nvSpPr>
        <p:spPr>
          <a:xfrm>
            <a:off x="497850" y="248338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XSS in React কীভাবে prevent করো?</a:t>
            </a:r>
            <a:endParaRPr sz="3000"/>
          </a:p>
        </p:txBody>
      </p:sp>
      <p:sp>
        <p:nvSpPr>
          <p:cNvPr id="569" name="Google Shape;569;p94"/>
          <p:cNvSpPr txBox="1"/>
          <p:nvPr/>
        </p:nvSpPr>
        <p:spPr>
          <a:xfrm>
            <a:off x="497850" y="819363"/>
            <a:ext cx="7903200" cy="40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XSS (Cross-Site Scripting) হলো security vulnerability যেখানে attacker malicious script inject করে, এবং React কিছু built-in protection এবং best practices follow করলে XSS prevent করা যায়।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 escapes content by default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JSX automatically escapes strings → prevents HTML/script injection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Example: &lt;div&gt;{userInput}&lt;/div&gt; is safe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Avoid dangerouslySetInnerHTML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Only use if content is trusted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Otherwise, attacker code can execute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Validate &amp; sanitize user input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Libraries like DOMPurify ব্যবহার করে HTML sanitize করা যায়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Use safe APIs for external content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Avoid directly injecting untrusted HTML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95"/>
          <p:cNvSpPr txBox="1">
            <a:spLocks noGrp="1"/>
          </p:cNvSpPr>
          <p:nvPr>
            <p:ph type="title" idx="4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dangerouslySetInnerHTML কেন dangerous?</a:t>
            </a:r>
            <a:endParaRPr sz="3000"/>
          </a:p>
        </p:txBody>
      </p:sp>
      <p:sp>
        <p:nvSpPr>
          <p:cNvPr id="575" name="Google Shape;575;p95"/>
          <p:cNvSpPr txBox="1"/>
          <p:nvPr/>
        </p:nvSpPr>
        <p:spPr>
          <a:xfrm>
            <a:off x="497850" y="1282000"/>
            <a:ext cx="7903200" cy="18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dangerouslySetInnerHTML dangerous কারণ এটি raw HTML inject করে DOM-এ, যা malicious scripts (XSS) execute হওয়ার সুযোগ দেয় যদি content untrusted হয়।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 normally escapes content → prevents XSS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dangerouslySetInnerHTML bypasses this protection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Only use with trusted or sanitized HTML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Name itself “dangerous” → warning to developers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96"/>
          <p:cNvSpPr txBox="1">
            <a:spLocks noGrp="1"/>
          </p:cNvSpPr>
          <p:nvPr>
            <p:ph type="title" idx="4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Environment variable ব্যবহার কীভাবে করো?</a:t>
            </a:r>
            <a:endParaRPr sz="3000"/>
          </a:p>
        </p:txBody>
      </p:sp>
      <p:sp>
        <p:nvSpPr>
          <p:cNvPr id="581" name="Google Shape;581;p96"/>
          <p:cNvSpPr txBox="1"/>
          <p:nvPr/>
        </p:nvSpPr>
        <p:spPr>
          <a:xfrm>
            <a:off x="497850" y="1282000"/>
            <a:ext cx="7903200" cy="18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React-এ environment variables ব্যবহার করা হয় app-এ sensitive বা environment-specific data (API URLs, keys, feature flags) separate করার জন্য।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Environment variables must start with REACT_APP_ in React (create-react-app)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Stored in .env file at project root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Accessed in code via process.env.REACT_APP_VARIABLE_NAME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Can create different .env files for development, production, test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97"/>
          <p:cNvSpPr txBox="1">
            <a:spLocks noGrp="1"/>
          </p:cNvSpPr>
          <p:nvPr>
            <p:ph type="title" idx="4"/>
          </p:nvPr>
        </p:nvSpPr>
        <p:spPr>
          <a:xfrm>
            <a:off x="497850" y="252425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Build process কী?</a:t>
            </a:r>
            <a:endParaRPr sz="3000"/>
          </a:p>
        </p:txBody>
      </p:sp>
      <p:sp>
        <p:nvSpPr>
          <p:cNvPr id="587" name="Google Shape;587;p97"/>
          <p:cNvSpPr txBox="1"/>
          <p:nvPr/>
        </p:nvSpPr>
        <p:spPr>
          <a:xfrm>
            <a:off x="497850" y="823450"/>
            <a:ext cx="7903200" cy="40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React-এর build process হলো source code কে optimized, production-ready version-এ convert করার process, যাতে app fast এবং lightweight হয়।</a:t>
            </a:r>
            <a:endParaRPr sz="9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9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Transpilation</a:t>
            </a:r>
            <a:endParaRPr sz="9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E2D24"/>
              </a:buClr>
              <a:buSzPts val="900"/>
              <a:buFont typeface="Space Grotesk"/>
              <a:buChar char="●"/>
            </a:pPr>
            <a:r>
              <a:rPr lang="en" sz="9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JSX এবং modern JavaScript (ES6+) কে browser-compatible JavaScript-এ convert করা হয়</a:t>
            </a:r>
            <a:endParaRPr sz="9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900"/>
              <a:buFont typeface="Space Grotesk"/>
              <a:buChar char="●"/>
            </a:pPr>
            <a:r>
              <a:rPr lang="en" sz="9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Babel ব্যবহার করা হয়</a:t>
            </a:r>
            <a:endParaRPr sz="9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Bundling</a:t>
            </a:r>
            <a:endParaRPr sz="9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E2D24"/>
              </a:buClr>
              <a:buSzPts val="900"/>
              <a:buFont typeface="Space Grotesk"/>
              <a:buChar char="●"/>
            </a:pPr>
            <a:r>
              <a:rPr lang="en" sz="9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Modules (JS, CSS, images) combine করে single/few files তৈরি করা হয়</a:t>
            </a:r>
            <a:endParaRPr sz="9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900"/>
              <a:buFont typeface="Space Grotesk"/>
              <a:buChar char="●"/>
            </a:pPr>
            <a:r>
              <a:rPr lang="en" sz="9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Webpack বা Vite ব্যবহার করা হয়</a:t>
            </a:r>
            <a:endParaRPr sz="9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Minification &amp; Optimization</a:t>
            </a:r>
            <a:endParaRPr sz="9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E2D24"/>
              </a:buClr>
              <a:buSzPts val="900"/>
              <a:buFont typeface="Space Grotesk"/>
              <a:buChar char="●"/>
            </a:pPr>
            <a:r>
              <a:rPr lang="en" sz="9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Extra spaces, comments remove করা হয়</a:t>
            </a:r>
            <a:endParaRPr sz="9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900"/>
              <a:buFont typeface="Space Grotesk"/>
              <a:buChar char="●"/>
            </a:pPr>
            <a:r>
              <a:rPr lang="en" sz="9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Variable names shrink করা হয়</a:t>
            </a:r>
            <a:endParaRPr sz="9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900"/>
              <a:buFont typeface="Space Grotesk"/>
              <a:buChar char="●"/>
            </a:pPr>
            <a:r>
              <a:rPr lang="en" sz="9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Tree shaking → unused code remove করা হয়</a:t>
            </a:r>
            <a:endParaRPr sz="9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Output</a:t>
            </a:r>
            <a:endParaRPr sz="9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E2D24"/>
              </a:buClr>
              <a:buSzPts val="900"/>
              <a:buFont typeface="Space Grotesk"/>
              <a:buChar char="●"/>
            </a:pPr>
            <a:r>
              <a:rPr lang="en" sz="9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Production-ready static files → build/ folder</a:t>
            </a:r>
            <a:endParaRPr sz="9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900"/>
              <a:buFont typeface="Space Grotesk"/>
              <a:buChar char="●"/>
            </a:pPr>
            <a:r>
              <a:rPr lang="en" sz="9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Deployable on server or CDN</a:t>
            </a:r>
            <a:endParaRPr sz="9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98"/>
          <p:cNvSpPr txBox="1">
            <a:spLocks noGrp="1"/>
          </p:cNvSpPr>
          <p:nvPr>
            <p:ph type="title" idx="4"/>
          </p:nvPr>
        </p:nvSpPr>
        <p:spPr>
          <a:xfrm>
            <a:off x="497850" y="252425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React.memo vs useMemo</a:t>
            </a:r>
            <a:endParaRPr sz="3000"/>
          </a:p>
        </p:txBody>
      </p:sp>
      <p:sp>
        <p:nvSpPr>
          <p:cNvPr id="593" name="Google Shape;593;p98"/>
          <p:cNvSpPr txBox="1"/>
          <p:nvPr/>
        </p:nvSpPr>
        <p:spPr>
          <a:xfrm>
            <a:off x="497850" y="823450"/>
            <a:ext cx="7903200" cy="26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React.memo এবং useMemo দুইটি performance optimization technique, কিন্তু context এবং purpose ভিন্ন।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React.memo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Higher-order component (HOC)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Functional component wrap করে re-render avoid করে যদি props change না হয়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Pure component behavior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Usage: Component-level optimization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useMemo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Hook, value memoization করে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Expensive calculation শুধুমাত্র dependency change হলে run হয়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Usage: inside functional component → avoid unnecessary recomputation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99"/>
          <p:cNvSpPr txBox="1">
            <a:spLocks noGrp="1"/>
          </p:cNvSpPr>
          <p:nvPr>
            <p:ph type="title" idx="4"/>
          </p:nvPr>
        </p:nvSpPr>
        <p:spPr>
          <a:xfrm>
            <a:off x="497850" y="252425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SSR কী?</a:t>
            </a:r>
            <a:endParaRPr sz="3000"/>
          </a:p>
        </p:txBody>
      </p:sp>
      <p:sp>
        <p:nvSpPr>
          <p:cNvPr id="599" name="Google Shape;599;p99"/>
          <p:cNvSpPr txBox="1"/>
          <p:nvPr/>
        </p:nvSpPr>
        <p:spPr>
          <a:xfrm>
            <a:off x="497850" y="823450"/>
            <a:ext cx="7903200" cy="18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SSR হলো process যেখানে React component-এর HTML content server-এ generate করা হয় এবং browser-এ পাঠানো হয়, যাতে page faster load হয় এবং SEO improve হয়।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Normally React apps are CSR (Client-Side Rendering) → browser renders components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In SSR, server renders initial HTML → user sees content faster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Improves SEO because search engines get fully rendered HTML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Can be implemented using frameworks like Next.js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0"/>
          <p:cNvSpPr txBox="1">
            <a:spLocks noGrp="1"/>
          </p:cNvSpPr>
          <p:nvPr>
            <p:ph type="title" idx="4"/>
          </p:nvPr>
        </p:nvSpPr>
        <p:spPr>
          <a:xfrm>
            <a:off x="497850" y="252425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CSR vs SSR</a:t>
            </a:r>
            <a:endParaRPr sz="3000"/>
          </a:p>
        </p:txBody>
      </p:sp>
      <p:sp>
        <p:nvSpPr>
          <p:cNvPr id="605" name="Google Shape;605;p100"/>
          <p:cNvSpPr txBox="1"/>
          <p:nvPr/>
        </p:nvSpPr>
        <p:spPr>
          <a:xfrm>
            <a:off x="497850" y="823450"/>
            <a:ext cx="7903200" cy="38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CSR (Client-Side Rendering) এবং SSR (Server-Side Rendering) দুটো React app render করার approach, কিন্তু workflow এবং benefits আলাদা।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CSR (Client-Side Rendering)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Browser loads a minimal HTML file + JS bundle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 JS executes in browser → renders components dynamically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Initial load slower, subsequent navigation fast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SEO challenging unless pre-render or hydration used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Typical React apps created with Create React App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SSR (Server-Side Rendering)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Server renders React components to HTML → sends fully rendered HTML to client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Initial page load faster → first content visible immediately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Better SEO → crawlers get full HTML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Requires server setup (Next.js, Express + React)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Hydration needed → React takes over for interactivity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101"/>
          <p:cNvSpPr txBox="1">
            <a:spLocks noGrp="1"/>
          </p:cNvSpPr>
          <p:nvPr>
            <p:ph type="title" idx="4"/>
          </p:nvPr>
        </p:nvSpPr>
        <p:spPr>
          <a:xfrm>
            <a:off x="497850" y="252425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React portal কী?</a:t>
            </a:r>
            <a:endParaRPr sz="3000"/>
          </a:p>
        </p:txBody>
      </p:sp>
      <p:sp>
        <p:nvSpPr>
          <p:cNvPr id="611" name="Google Shape;611;p101"/>
          <p:cNvSpPr txBox="1"/>
          <p:nvPr/>
        </p:nvSpPr>
        <p:spPr>
          <a:xfrm>
            <a:off x="497850" y="82345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 Portal হলো একটি feature যা component-এর content DOM tree-এর parent hierarchy ছাড়াই অন্য DOM node-এ render করতে দেয়।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Normal React component parent DOM-এর ভিতরে render হয়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Portal allows rendering outside the parent DOM node, e.g., modals, tooltips, dropdowns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Maintains React context &amp; events, কিন্তু DOM position আলাদা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102"/>
          <p:cNvSpPr txBox="1">
            <a:spLocks noGrp="1"/>
          </p:cNvSpPr>
          <p:nvPr>
            <p:ph type="title" idx="4"/>
          </p:nvPr>
        </p:nvSpPr>
        <p:spPr>
          <a:xfrm>
            <a:off x="497850" y="252425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Error boundary কী?</a:t>
            </a:r>
            <a:endParaRPr sz="3000"/>
          </a:p>
        </p:txBody>
      </p:sp>
      <p:sp>
        <p:nvSpPr>
          <p:cNvPr id="617" name="Google Shape;617;p102"/>
          <p:cNvSpPr txBox="1"/>
          <p:nvPr/>
        </p:nvSpPr>
        <p:spPr>
          <a:xfrm>
            <a:off x="497850" y="823450"/>
            <a:ext cx="7903200" cy="35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Error Boundary হলো একটি React component যা child components-এর runtime errors catch করে এবং app crash না হয়ে fallback UI display করে।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Only class components can be Error Boundaries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Catches errors during: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Rendering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Lifecycle methods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Constructors of child components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Cannot catch errors in: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Event handlers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D24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Asynchronous code (promises, setTimeout)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Provides graceful UI fallback</a:t>
            </a:r>
            <a:endParaRPr sz="11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103"/>
          <p:cNvSpPr txBox="1">
            <a:spLocks noGrp="1"/>
          </p:cNvSpPr>
          <p:nvPr>
            <p:ph type="title" idx="4"/>
          </p:nvPr>
        </p:nvSpPr>
        <p:spPr>
          <a:xfrm>
            <a:off x="497850" y="252425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Production optimization steps</a:t>
            </a:r>
            <a:endParaRPr sz="3000"/>
          </a:p>
        </p:txBody>
      </p:sp>
      <p:sp>
        <p:nvSpPr>
          <p:cNvPr id="623" name="Google Shape;623;p103"/>
          <p:cNvSpPr txBox="1"/>
          <p:nvPr/>
        </p:nvSpPr>
        <p:spPr>
          <a:xfrm>
            <a:off x="497850" y="823450"/>
            <a:ext cx="7903200" cy="408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 app production-ready করতে performance এবং bundle size improve করার জন্য কিছু optimization steps follow করা হয়।</a:t>
            </a:r>
            <a:endParaRPr sz="9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Steps:</a:t>
            </a:r>
            <a:endParaRPr sz="9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Build for Production:Run npm run build → minified, optimized static files,  </a:t>
            </a:r>
            <a:endParaRPr sz="9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Code Splitting: Split code into chunks → load only required JS per route, Use React.lazy + Suspense</a:t>
            </a:r>
            <a:endParaRPr sz="9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Tree Shaking: Remove unused code automatically during build</a:t>
            </a:r>
            <a:endParaRPr sz="9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Use React.memo &amp; useMemo / useCallback: Prevent unnecessary re-renders and expensive calculations</a:t>
            </a:r>
            <a:endParaRPr sz="9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Lazy Loading Assets: Images, components, and routes load only when needed</a:t>
            </a:r>
            <a:endParaRPr sz="9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Avoid Inline Functions / Objects in JSX: Prevents re-creation on every render</a:t>
            </a:r>
            <a:endParaRPr sz="9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Optimize Images: Compress images → serve WebP / modern formats</a:t>
            </a:r>
            <a:endParaRPr sz="9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Server-Side Rendering (SSR) or Static Generation (SSG): Improves first paint and SEO</a:t>
            </a:r>
            <a:endParaRPr sz="9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Use CDN for Assets: Faster load times</a:t>
            </a:r>
            <a:endParaRPr sz="9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Monitor &amp; Analyze Bundle Size: Tools: source-map-explorer, webpack-bundle-analyzer</a:t>
            </a:r>
            <a:endParaRPr sz="9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900">
                <a:solidFill>
                  <a:srgbClr val="1E2D24"/>
                </a:solidFill>
                <a:latin typeface="Space Grotesk"/>
                <a:ea typeface="Space Grotesk"/>
                <a:cs typeface="Space Grotesk"/>
                <a:sym typeface="Space Grotesk"/>
              </a:rPr>
              <a:t>Use Production Builds of React: Development build has warnings and extra checks → avoid in production</a:t>
            </a:r>
            <a:endParaRPr sz="900">
              <a:solidFill>
                <a:srgbClr val="1E2D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EEF2EE"/>
      </a:dk1>
      <a:lt1>
        <a:srgbClr val="1E2D24"/>
      </a:lt1>
      <a:dk2>
        <a:srgbClr val="158158"/>
      </a:dk2>
      <a:lt2>
        <a:srgbClr val="2D4A3E"/>
      </a:lt2>
      <a:accent1>
        <a:srgbClr val="4A7C59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6089</Words>
  <Application>Microsoft Office PowerPoint</Application>
  <PresentationFormat>On-screen Show (16:9)</PresentationFormat>
  <Paragraphs>719</Paragraphs>
  <Slides>90</Slides>
  <Notes>90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90</vt:i4>
      </vt:variant>
    </vt:vector>
  </HeadingPairs>
  <TitlesOfParts>
    <vt:vector size="94" baseType="lpstr">
      <vt:lpstr>Space Grotesk</vt:lpstr>
      <vt:lpstr>Arial</vt:lpstr>
      <vt:lpstr>Space Grotesk Medium</vt:lpstr>
      <vt:lpstr>Simple Light</vt:lpstr>
      <vt:lpstr>React কী?</vt:lpstr>
      <vt:lpstr>React কেন ব্যবহার করা হয়?</vt:lpstr>
      <vt:lpstr>SPA কী?</vt:lpstr>
      <vt:lpstr>React vs Vanilla JS</vt:lpstr>
      <vt:lpstr>JSX কী? VS code Theory</vt:lpstr>
      <vt:lpstr>Virtual DOM কী?</vt:lpstr>
      <vt:lpstr>Real DOM vs Virtual DOM</vt:lpstr>
      <vt:lpstr>React element কী?</vt:lpstr>
      <vt:lpstr>React component কী?</vt:lpstr>
      <vt:lpstr>Props কী?</vt:lpstr>
      <vt:lpstr>Props immutable কেন?</vt:lpstr>
      <vt:lpstr>Parent to child data pass কীভাবে হয়? </vt:lpstr>
      <vt:lpstr>Child থেকে parent এ data পাঠানো যায় কীভাবে?</vt:lpstr>
      <vt:lpstr>Default props কী?</vt:lpstr>
      <vt:lpstr>Props drilling কী?</vt:lpstr>
      <vt:lpstr>Component reusability কী?</vt:lpstr>
      <vt:lpstr>Controlled vs Uncontrolled component </vt:lpstr>
      <vt:lpstr>Stateless vs Stateful component</vt:lpstr>
      <vt:lpstr>State কী?</vt:lpstr>
      <vt:lpstr>Props vs State</vt:lpstr>
      <vt:lpstr>setState async কেন?</vt:lpstr>
      <vt:lpstr>State directly update করা যায় না কেন?</vt:lpstr>
      <vt:lpstr>React lifecycle phases</vt:lpstr>
      <vt:lpstr>useEffect কী?</vt:lpstr>
      <vt:lpstr>useEffect dependency array</vt:lpstr>
      <vt:lpstr>Hook কী?</vt:lpstr>
      <vt:lpstr>React Hooks কেন introduce করা হয়েছে?</vt:lpstr>
      <vt:lpstr>useState কী?</vt:lpstr>
      <vt:lpstr>useEffect কীভাবে কাজ করে?</vt:lpstr>
      <vt:lpstr>useRef কী?</vt:lpstr>
      <vt:lpstr>useMemo কী?</vt:lpstr>
      <vt:lpstr>useCallback কী?</vt:lpstr>
      <vt:lpstr>Custom hook কী?</vt:lpstr>
      <vt:lpstr>Hook rules কী?</vt:lpstr>
      <vt:lpstr>useReducer কী?</vt:lpstr>
      <vt:lpstr>Re-render কখন হয়?</vt:lpstr>
      <vt:lpstr>React memo কী?</vt:lpstr>
      <vt:lpstr>Key prop কেন দরকার?</vt:lpstr>
      <vt:lpstr>Index as key কেন bad practice?</vt:lpstr>
      <vt:lpstr>Conditional rendering কী?</vt:lpstr>
      <vt:lpstr>Lazy loading in React</vt:lpstr>
      <vt:lpstr>Code splitting কী?</vt:lpstr>
      <vt:lpstr>React.Fragment কী?</vt:lpstr>
      <vt:lpstr>StrictMode কী?</vt:lpstr>
      <vt:lpstr>Hydration কী?</vt:lpstr>
      <vt:lpstr>Controlled form কী?</vt:lpstr>
      <vt:lpstr>onChange কীভাবে কাজ করে? </vt:lpstr>
      <vt:lpstr>Form validation কীভাবে করো?</vt:lpstr>
      <vt:lpstr>Synthetic event কী?</vt:lpstr>
      <vt:lpstr>Event handling in React</vt:lpstr>
      <vt:lpstr>preventDefault ব্যবহার কেন?</vt:lpstr>
      <vt:lpstr>Two-way binding কী?</vt:lpstr>
      <vt:lpstr>Checkbox handle কীভাবে করো?</vt:lpstr>
      <vt:lpstr>File upload কীভাবে করো?</vt:lpstr>
      <vt:lpstr>Multiple input handle করার pattern</vt:lpstr>
      <vt:lpstr>React Router কী?</vt:lpstr>
      <vt:lpstr>useParams কী?</vt:lpstr>
      <vt:lpstr>useNavigate কী?</vt:lpstr>
      <vt:lpstr>Protected route কী?</vt:lpstr>
      <vt:lpstr>Nested routing</vt:lpstr>
      <vt:lpstr>Dynamic routing</vt:lpstr>
      <vt:lpstr>NavLink কী?</vt:lpstr>
      <vt:lpstr>404 route কীভাবে handle করো?</vt:lpstr>
      <vt:lpstr>Lifting state up কী?</vt:lpstr>
      <vt:lpstr>Context API কী?</vt:lpstr>
      <vt:lpstr>Context vs Redux</vt:lpstr>
      <vt:lpstr>Redux কী?</vt:lpstr>
      <vt:lpstr>Redux flow explain</vt:lpstr>
      <vt:lpstr>Action কী?</vt:lpstr>
      <vt:lpstr>Reducer কী?</vt:lpstr>
      <vt:lpstr>Store কী?</vt:lpstr>
      <vt:lpstr>Middleware কী?</vt:lpstr>
      <vt:lpstr>API call কোথায় করো?</vt:lpstr>
      <vt:lpstr>Axios vs fetch</vt:lpstr>
      <vt:lpstr>Loading state কীভাবে handle করো?</vt:lpstr>
      <vt:lpstr>Error handling কীভাবে করো?</vt:lpstr>
      <vt:lpstr>Error handling কীভাবে করো?</vt:lpstr>
      <vt:lpstr>useEffect with API</vt:lpstr>
      <vt:lpstr>Debounce in React</vt:lpstr>
      <vt:lpstr>Throttle in React</vt:lpstr>
      <vt:lpstr>XSS in React কীভাবে prevent করো?</vt:lpstr>
      <vt:lpstr>dangerouslySetInnerHTML কেন dangerous?</vt:lpstr>
      <vt:lpstr>Environment variable ব্যবহার কীভাবে করো?</vt:lpstr>
      <vt:lpstr>Build process কী?</vt:lpstr>
      <vt:lpstr>React.memo vs useMemo</vt:lpstr>
      <vt:lpstr>SSR কী?</vt:lpstr>
      <vt:lpstr>CSR vs SSR</vt:lpstr>
      <vt:lpstr>React portal কী?</vt:lpstr>
      <vt:lpstr>Error boundary কী?</vt:lpstr>
      <vt:lpstr>Production optimization steps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Nabila Nuzhat Moin</cp:lastModifiedBy>
  <cp:revision>1</cp:revision>
  <dcterms:modified xsi:type="dcterms:W3CDTF">2026-06-08T13:08:14Z</dcterms:modified>
</cp:coreProperties>
</file>